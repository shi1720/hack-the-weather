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26bc0b8b5d4ae6" /><Relationship Type="http://schemas.openxmlformats.org/officeDocument/2006/relationships/extended-properties" Target="/docProps/app.xml" Id="R5f6806cc56ae4029" /><Relationship Type="http://schemas.openxmlformats.org/officeDocument/2006/relationships/officeDocument" Target="/ppt/presentation.xml" Id="R740067c5e87540a5" /></Relationships>
</file>

<file path=ppt/presentation.xml><?xml version="1.0" encoding="utf-8"?>
<p:presentation xmlns:p="http://schemas.openxmlformats.org/presentationml/2006/main">
  <p:sldMasterIdLst>
    <p:sldMasterId xmlns:r="http://schemas.openxmlformats.org/officeDocument/2006/relationships" id="2147483648" r:id="R93eafd8e91f14640"/>
  </p:sldMasterIdLst>
  <p:notesMasterIdLst>
    <p:notesMasterId xmlns:r="http://schemas.openxmlformats.org/officeDocument/2006/relationships" r:id="R4f9b3af605044da8"/>
  </p:notesMasterIdLst>
  <p:sldIdLst>
    <p:sldId xmlns:r="http://schemas.openxmlformats.org/officeDocument/2006/relationships" id="256" r:id="R1b06a35ded654729"/>
    <p:sldId xmlns:r="http://schemas.openxmlformats.org/officeDocument/2006/relationships" id="257" r:id="Rc62f2121f89c4a4a"/>
    <p:sldId xmlns:r="http://schemas.openxmlformats.org/officeDocument/2006/relationships" id="258" r:id="R45632ccdeed048a2"/>
    <p:sldId xmlns:r="http://schemas.openxmlformats.org/officeDocument/2006/relationships" id="259" r:id="R2ed98798d9ad46f5"/>
    <p:sldId xmlns:r="http://schemas.openxmlformats.org/officeDocument/2006/relationships" id="260" r:id="Rb0cf915c5f6a406f"/>
    <p:sldId xmlns:r="http://schemas.openxmlformats.org/officeDocument/2006/relationships" id="261" r:id="R7e891d54f9b84633"/>
    <p:sldId xmlns:r="http://schemas.openxmlformats.org/officeDocument/2006/relationships" id="262" r:id="R4c2a957772dc46fb"/>
    <p:sldId xmlns:r="http://schemas.openxmlformats.org/officeDocument/2006/relationships" id="263" r:id="R9812b7b5322c4a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178e1b5cc347d2" /><Relationship Type="http://schemas.openxmlformats.org/officeDocument/2006/relationships/slideMaster" Target="/ppt/slideMasters/slideMaster1.xml" Id="R93eafd8e91f14640" /><Relationship Type="http://schemas.openxmlformats.org/officeDocument/2006/relationships/notesMaster" Target="/ppt/notesMasters/notesMaster1.xml" Id="R4f9b3af605044da8" /><Relationship Type="http://schemas.openxmlformats.org/officeDocument/2006/relationships/presProps" Target="/ppt/presProps.xml" Id="R6ab249c292fd462d" /><Relationship Type="http://schemas.openxmlformats.org/officeDocument/2006/relationships/tableStyles" Target="/ppt/tableStyles.xml" Id="R09952de486fb4ed5" /><Relationship Type="http://schemas.openxmlformats.org/officeDocument/2006/relationships/slide" Target="/ppt/slides/slide1.xml" Id="R1b06a35ded654729" /><Relationship Type="http://schemas.openxmlformats.org/officeDocument/2006/relationships/slide" Target="/ppt/slides/slide2.xml" Id="Rc62f2121f89c4a4a" /><Relationship Type="http://schemas.openxmlformats.org/officeDocument/2006/relationships/slide" Target="/ppt/slides/slide3.xml" Id="R45632ccdeed048a2" /><Relationship Type="http://schemas.openxmlformats.org/officeDocument/2006/relationships/slide" Target="/ppt/slides/slide4.xml" Id="R2ed98798d9ad46f5" /><Relationship Type="http://schemas.openxmlformats.org/officeDocument/2006/relationships/slide" Target="/ppt/slides/slide5.xml" Id="Rb0cf915c5f6a406f" /><Relationship Type="http://schemas.openxmlformats.org/officeDocument/2006/relationships/slide" Target="/ppt/slides/slide6.xml" Id="R7e891d54f9b84633" /><Relationship Type="http://schemas.openxmlformats.org/officeDocument/2006/relationships/slide" Target="/ppt/slides/slide7.xml" Id="R4c2a957772dc46fb" /><Relationship Type="http://schemas.openxmlformats.org/officeDocument/2006/relationships/slide" Target="/ppt/slides/slide8.xml" Id="R9812b7b5322c4a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1915d407fd4f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8dc0c3e3cd42a1" /><Relationship Type="http://schemas.openxmlformats.org/officeDocument/2006/relationships/notesMaster" Target="/ppt/notesMasters/notesMaster1.xml" Id="R1bbff163197547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cea30f08924ef8" /><Relationship Type="http://schemas.openxmlformats.org/officeDocument/2006/relationships/notesMaster" Target="/ppt/notesMasters/notesMaster1.xml" Id="Rc36371913dc347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67737d3fe14875" /><Relationship Type="http://schemas.openxmlformats.org/officeDocument/2006/relationships/notesMaster" Target="/ppt/notesMasters/notesMaster1.xml" Id="Rb566580eebe945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b3384b1c144c93" /><Relationship Type="http://schemas.openxmlformats.org/officeDocument/2006/relationships/notesMaster" Target="/ppt/notesMasters/notesMaster1.xml" Id="R3775d2b2a75347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24ab555ea549ac" /><Relationship Type="http://schemas.openxmlformats.org/officeDocument/2006/relationships/notesMaster" Target="/ppt/notesMasters/notesMaster1.xml" Id="R6fae9fad52f746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31db3dba584306" /><Relationship Type="http://schemas.openxmlformats.org/officeDocument/2006/relationships/notesMaster" Target="/ppt/notesMasters/notesMaster1.xml" Id="Rd0f21192ace941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81c4583a284401" /><Relationship Type="http://schemas.openxmlformats.org/officeDocument/2006/relationships/notesMaster" Target="/ppt/notesMasters/notesMaster1.xml" Id="Rea10b86636fa40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0ba1684c994b20" /><Relationship Type="http://schemas.openxmlformats.org/officeDocument/2006/relationships/notesMaster" Target="/ppt/notesMasters/notesMaster1.xml" Id="Rd53cf8fdb0284c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Kavu project presentation for Hack The Weather 2026. Shivam Gupta supplied product direction, commercial focus and quality constraints. OpenAI Codex assisted research, engineering, tests and documentation. No fictional teammate or field contribution is claimed. Project source: https://github.com/shi1720/Hack-The-Weather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is a product hypothesis, not a claim from interviews. KALRO 2021 Training of Trainers Manual, Module 10, printed pp60-64 (PDF pp72-76), covers drying, moisture for storage and practical use of moisture meters. https://keep.kalro.org/appfiles/media/vc_files/maize-tot.pdf . NCPB provides paid mechanical grain drying: https://ncpb.co.ke/drying/ . Kavu has no validated customer adoption or loss reduction at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Derived source: data/processed/quality-report.json and docs/evaluation.md. Input21,189 rows,18,364 unique,2,825 overlapping rows removed. Observations span28August to15September2026UTC. Longestgap144.029hours. The controlled evaluation holds inventory, deadline, capacity and September12 planning date fixed and maps comparison weather timestamps to the same hour on that date. September12 allocates2700kg; September15 humid and September8 gap allocate0. This demonstrates functional data dependence and does not estimate forecast accuracy or field outcomes. Original source folder https://drive.google.com/drive/folders/1KDoCh8vss7nv_B6SuVBlQQssjSh1yaBg . Attribution https://3d-fewsnet.icdp.ucar.edu/instruments/61 . Data redistribution and commercial terms need owner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of the actual local Kavu application provided by the implementation owner. Historical replay for 12 September 2026 and example batches. It shows software functionality, not a photograph of a customer installation or evidence of outcomes. Overview, Drying yard, Batches, Impact ledger and Data &amp; settings are the implemented view structure. No external imagery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source: project implementation and deployment configuration. Firebase Hosting serves the React client, Cloud Run runs the Express API and a dedicated Firestore database persists cloud accounts, sessions and workspaces. SQLite remains the local self-hosting backend. Deployment verification status: implementation owner confirmed hosted checks. The current workspace has one account owner, not multi-operator role assignments. Demo workspaces are separate. Optional MET Norway forecast is separately attributed; historic Conduit observations do not calibrate it. Product direction Shivam Gupta; Codex-assisted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NCPB published reference tariff: KSh377.80 per tonne per moisture percentage point, https://ncpb.co.ke/drying/ . Mavuno A-01 uses example intake mass1800kg, intake18.2%, follow-up15.0%. Calculation1.8x3.2x377.8=2176.128, displayed rounded KSh2176. Inputs are demonstration records, not field observations. This reference equivalent excludes actual labour, transport and handling, can differ from depot charges, and does not establish verified savings or causal impact. The ledger uses intake and latest moisture gap relative to target, rather than summing every downward reading.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buyer, price and moat statements are hypotheses, not customer discovery results. Proposed price KSh2500/active month/site from docs/research/market-and-evidence.md. Costs include infrastructure, support, onboarding, sales and seasonality. Competitor/complement sources: NCPB https://ncpb.co.ke/drying/ and Sesi GrainMate https://sesitechnologies.com/grainmate-grain-moisture-meter/ . No claim that these products lack unexamined features. The initial customer is a maize cooperative or aggregator near the station-relevant area, not all Kenyan farmers.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pilot only. No committed yard, partner, customer or field result. Target3 yards and initially30 lot histories would test feasibility and usability, not power a causal impact study. Operators retain existing protective practices. Measure task completion, recordkeeping time, moisture-recheck process, rewetting episodes and receipts. Consider expansion after validated use, maintained station coverage and confirmed data rights. GitHub https://github.com/shi1720/Hack-The-Weather . Shivam Gupta founder/product lead; Codex-assisted research, engineering and documents.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904ae18df9424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92c669068c40d0" /><Relationship Type="http://schemas.openxmlformats.org/officeDocument/2006/relationships/slideLayout" Target="/ppt/slideLayouts/slideLayout1.xml" Id="R0d08abb0e5fa4b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08abb0e5fa4b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d76b4369f34f5f" /><Relationship Type="http://schemas.openxmlformats.org/officeDocument/2006/relationships/notesSlide" Target="/ppt/notesSlides/notesSlide1.xml" Id="Rb5a29e23979f45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bd63df82fa49d6" /><Relationship Type="http://schemas.openxmlformats.org/officeDocument/2006/relationships/notesSlide" Target="/ppt/notesSlides/notesSlide2.xml" Id="Rd8df3aef796148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1202c9246946fe" /><Relationship Type="http://schemas.openxmlformats.org/officeDocument/2006/relationships/notesSlide" Target="/ppt/notesSlides/notesSlide3.xml" Id="R111ba867e4a64e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4829a5f79044de6" /><Relationship Type="http://schemas.openxmlformats.org/officeDocument/2006/relationships/image" Target="/ppt/media/image.png" Id="R8a6bd4872bd8438f" /><Relationship Type="http://schemas.openxmlformats.org/officeDocument/2006/relationships/notesSlide" Target="/ppt/notesSlides/notesSlide4.xml" Id="Rea023cc34a7341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279c95c7fe1455a" /><Relationship Type="http://schemas.openxmlformats.org/officeDocument/2006/relationships/notesSlide" Target="/ppt/notesSlides/notesSlide5.xml" Id="R2d1d3c1a2ce343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ab53627dbbf405f" /><Relationship Type="http://schemas.openxmlformats.org/officeDocument/2006/relationships/notesSlide" Target="/ppt/notesSlides/notesSlide6.xml" Id="Rf0759867be6649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02bdc1a82b9475c" /><Relationship Type="http://schemas.openxmlformats.org/officeDocument/2006/relationships/notesSlide" Target="/ppt/notesSlides/notesSlide7.xml" Id="Rf3cb0515a7d648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76705db86b34a09" /><Relationship Type="http://schemas.openxmlformats.org/officeDocument/2006/relationships/notesSlide" Target="/ppt/notesSlides/notesSlide8.xml" Id="Rfc8172c202154050" /></Relationships>
</file>

<file path=ppt/slides/slide1.xml><?xml version="1.0" encoding="utf-8"?>
<p:sld xmlns:p="http://schemas.openxmlformats.org/presentationml/2006/main">
  <p:cSld>
    <p:bg>
      <p:bgPr>
        <a:solidFill xmlns:a="http://schemas.openxmlformats.org/drawingml/2006/main">
          <a:srgbClr val="244D37"/>
        </a:solidFill>
      </p:bgPr>
    </p:bg>
    <p:spTree>
      <p:nvGrpSpPr>
        <p:cNvPr id="1" name=""/>
        <p:cNvGrpSpPr/>
        <p:nvPr/>
      </p:nvGrpSpPr>
      <p:grpSpPr>
        <a:xfrm xmlns:a="http://schemas.openxmlformats.org/drawingml/2006/main"/>
      </p:grpSpPr>
      <p:sp>
        <p:nvSpPr>
          <p:cNvPr id="7" name="HACK THE WEATHER 2026">
            <a:extLst xmlns:a="http://schemas.openxmlformats.org/drawingml/2006/main">
              <a:ext uri="{FF2B5EF4-FFF2-40B4-BE49-F238E27FC236}">
                <a16:creationId xmlns:a16="http://schemas.microsoft.com/office/drawing/2014/main" id="{12D25C4D-9D2F-4F7D-8B2D-2D40D3D21A11}"/>
              </a:ext>
            </a:extLst>
          </p:cNvPr>
          <p:cNvSpPr>
            <a:spLocks xmlns:a="http://schemas.openxmlformats.org/drawingml/2006/main" noGrp="1"/>
          </p:cNvSpPr>
          <p:nvPr/>
        </p:nvSpPr>
        <p:spPr>
          <a:xfrm xmlns:a="http://schemas.openxmlformats.org/drawingml/2006/main">
            <a:off x="723900" y="6096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1">
                <a:solidFill>
                  <a:srgbClr val="D0A650"/>
                </a:solidFill>
                <a:latin typeface="DM Sans"/>
                <a:ea typeface="DM Sans"/>
                <a:cs typeface="DM Sans"/>
              </a:defRPr>
            </a:pPr>
            <a:r>
              <a:rPr sz="1425" b="1">
                <a:solidFill>
                  <a:srgbClr val="D0A650"/>
                </a:solidFill>
                <a:latin typeface="DM Sans"/>
                <a:ea typeface="DM Sans"/>
                <a:cs typeface="DM Sans"/>
              </a:rPr>
              <a:t>HACK THE WEATHER 2026</a:t>
            </a:r>
          </a:p>
        </p:txBody>
      </p:sp>
      <p:sp>
        <p:nvSpPr>
          <p:cNvPr id="2" name="kavu.">
            <a:extLst xmlns:a="http://schemas.openxmlformats.org/drawingml/2006/main">
              <a:ext uri="{FF2B5EF4-FFF2-40B4-BE49-F238E27FC236}">
                <a16:creationId xmlns:a16="http://schemas.microsoft.com/office/drawing/2014/main" id="{C9C9E648-D799-4E51-AA5E-00D4CF222C49}"/>
              </a:ext>
            </a:extLst>
          </p:cNvPr>
          <p:cNvSpPr>
            <a:spLocks xmlns:a="http://schemas.openxmlformats.org/drawingml/2006/main" noGrp="1"/>
          </p:cNvSpPr>
          <p:nvPr/>
        </p:nvSpPr>
        <p:spPr>
          <a:xfrm xmlns:a="http://schemas.openxmlformats.org/drawingml/2006/main">
            <a:off x="685800" y="1609725"/>
            <a:ext cx="106680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600" b="1">
                <a:solidFill>
                  <a:srgbClr val="F8F9F5"/>
                </a:solidFill>
                <a:latin typeface="Manrope"/>
                <a:ea typeface="Manrope"/>
                <a:cs typeface="Manrope"/>
              </a:defRPr>
            </a:pPr>
            <a:r>
              <a:rPr sz="9600" b="1">
                <a:solidFill>
                  <a:srgbClr val="F8F9F5"/>
                </a:solidFill>
                <a:latin typeface="Manrope"/>
                <a:ea typeface="Manrope"/>
                <a:cs typeface="Manrope"/>
              </a:rPr>
              <a:t>kavu.</a:t>
            </a:r>
          </a:p>
        </p:txBody>
      </p:sp>
      <p:sp>
        <p:nvSpPr>
          <p:cNvPr id="3" name="Every dry hour counts.">
            <a:extLst xmlns:a="http://schemas.openxmlformats.org/drawingml/2006/main">
              <a:ext uri="{FF2B5EF4-FFF2-40B4-BE49-F238E27FC236}">
                <a16:creationId xmlns:a16="http://schemas.microsoft.com/office/drawing/2014/main" id="{6AB0CDFD-DFBE-438E-9364-134EE45486A4}"/>
              </a:ext>
            </a:extLst>
          </p:cNvPr>
          <p:cNvSpPr>
            <a:spLocks xmlns:a="http://schemas.openxmlformats.org/drawingml/2006/main" noGrp="1"/>
          </p:cNvSpPr>
          <p:nvPr/>
        </p:nvSpPr>
        <p:spPr>
          <a:xfrm xmlns:a="http://schemas.openxmlformats.org/drawingml/2006/main">
            <a:off x="742950" y="3333750"/>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0">
                <a:solidFill>
                  <a:srgbClr val="F8F9F5"/>
                </a:solidFill>
                <a:latin typeface="Manrope"/>
                <a:ea typeface="Manrope"/>
                <a:cs typeface="Manrope"/>
              </a:defRPr>
            </a:pPr>
            <a:r>
              <a:rPr sz="3900" b="0">
                <a:solidFill>
                  <a:srgbClr val="F8F9F5"/>
                </a:solidFill>
                <a:latin typeface="Manrope"/>
                <a:ea typeface="Manrope"/>
                <a:cs typeface="Manrope"/>
              </a:rPr>
              <a:t>Every dry hour counts.</a:t>
            </a:r>
          </a:p>
        </p:txBody>
      </p:sp>
      <p:sp>
        <p:nvSpPr>
          <p:cNvPr id="4" name="A drying operations desk for maize cooperativ">
            <a:extLst xmlns:a="http://schemas.openxmlformats.org/drawingml/2006/main">
              <a:ext uri="{FF2B5EF4-FFF2-40B4-BE49-F238E27FC236}">
                <a16:creationId xmlns:a16="http://schemas.microsoft.com/office/drawing/2014/main" id="{EDBC730E-9562-4070-90CE-B3D2EA220607}"/>
              </a:ext>
            </a:extLst>
          </p:cNvPr>
          <p:cNvSpPr>
            <a:spLocks xmlns:a="http://schemas.openxmlformats.org/drawingml/2006/main" noGrp="1"/>
          </p:cNvSpPr>
          <p:nvPr/>
        </p:nvSpPr>
        <p:spPr>
          <a:xfrm xmlns:a="http://schemas.openxmlformats.org/drawingml/2006/main">
            <a:off x="762000" y="4286250"/>
            <a:ext cx="10239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DEE5D9"/>
                </a:solidFill>
                <a:latin typeface="DM Sans"/>
                <a:ea typeface="DM Sans"/>
                <a:cs typeface="DM Sans"/>
              </a:defRPr>
            </a:pPr>
            <a:r>
              <a:rPr sz="2100" b="0">
                <a:solidFill>
                  <a:srgbClr val="DEE5D9"/>
                </a:solidFill>
                <a:latin typeface="DM Sans"/>
                <a:ea typeface="DM Sans"/>
                <a:cs typeface="DM Sans"/>
              </a:rPr>
              <a:t>A drying operations desk for maize cooperatives</a:t>
            </a:r>
          </a:p>
        </p:txBody>
      </p:sp>
      <p:sp>
        <p:nvSpPr>
          <p:cNvPr id="5" name="Shivam Gupta&#10;Founder and product lead">
            <a:extLst xmlns:a="http://schemas.openxmlformats.org/drawingml/2006/main">
              <a:ext uri="{FF2B5EF4-FFF2-40B4-BE49-F238E27FC236}">
                <a16:creationId xmlns:a16="http://schemas.microsoft.com/office/drawing/2014/main" id="{8A31ABF4-CA40-4340-A345-54C5EDDD80A6}"/>
              </a:ext>
            </a:extLst>
          </p:cNvPr>
          <p:cNvSpPr>
            <a:spLocks xmlns:a="http://schemas.openxmlformats.org/drawingml/2006/main" noGrp="1"/>
          </p:cNvSpPr>
          <p:nvPr/>
        </p:nvSpPr>
        <p:spPr>
          <a:xfrm xmlns:a="http://schemas.openxmlformats.org/drawingml/2006/main">
            <a:off x="762000" y="5495925"/>
            <a:ext cx="5905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DEE5D9"/>
                </a:solidFill>
                <a:latin typeface="DM Sans"/>
                <a:ea typeface="DM Sans"/>
                <a:cs typeface="DM Sans"/>
              </a:defRPr>
            </a:pPr>
            <a:r>
              <a:rPr sz="1650" b="0">
                <a:solidFill>
                  <a:srgbClr val="DEE5D9"/>
                </a:solidFill>
                <a:latin typeface="DM Sans"/>
                <a:ea typeface="DM Sans"/>
                <a:cs typeface="DM Sans"/>
              </a:rPr>
              <a:t>Shivam Gupta</a:t>
            </a:r>
          </a:p>
          <a:p xmlns:a="http://schemas.openxmlformats.org/drawingml/2006/main">
            <a:pPr>
              <a:defRPr sz="1650" b="0">
                <a:solidFill>
                  <a:srgbClr val="DEE5D9"/>
                </a:solidFill>
                <a:latin typeface="DM Sans"/>
                <a:ea typeface="DM Sans"/>
                <a:cs typeface="DM Sans"/>
              </a:defRPr>
            </a:pPr>
            <a:r>
              <a:rPr sz="1650" b="0">
                <a:solidFill>
                  <a:srgbClr val="DEE5D9"/>
                </a:solidFill>
                <a:latin typeface="DM Sans"/>
                <a:ea typeface="DM Sans"/>
                <a:cs typeface="DM Sans"/>
              </a:rPr>
              <a:t>Founder and product lead</a:t>
            </a:r>
          </a:p>
        </p:txBody>
      </p:sp>
      <p:sp>
        <p:nvSpPr>
          <p:cNvPr id="6" name="kavu-drying.web.app">
            <a:extLst xmlns:a="http://schemas.openxmlformats.org/drawingml/2006/main">
              <a:ext uri="{FF2B5EF4-FFF2-40B4-BE49-F238E27FC236}">
                <a16:creationId xmlns:a16="http://schemas.microsoft.com/office/drawing/2014/main" id="{4CA81DEC-751F-41E3-888C-E76CF0F4AFA4}"/>
              </a:ext>
            </a:extLst>
          </p:cNvPr>
          <p:cNvSpPr>
            <a:spLocks xmlns:a="http://schemas.openxmlformats.org/drawingml/2006/main" noGrp="1"/>
          </p:cNvSpPr>
          <p:nvPr/>
        </p:nvSpPr>
        <p:spPr>
          <a:xfrm xmlns:a="http://schemas.openxmlformats.org/drawingml/2006/main">
            <a:off x="762000" y="621982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1">
                <a:solidFill>
                  <a:srgbClr val="D0A650"/>
                </a:solidFill>
                <a:latin typeface="DM Sans"/>
                <a:ea typeface="DM Sans"/>
                <a:cs typeface="DM Sans"/>
              </a:defRPr>
            </a:pPr>
            <a:r>
              <a:rPr sz="1725" b="1">
                <a:solidFill>
                  <a:srgbClr val="D0A650"/>
                </a:solidFill>
                <a:latin typeface="DM Sans"/>
                <a:ea typeface="DM Sans"/>
                <a:cs typeface="DM Sans"/>
              </a:rPr>
              <a:t>kavu-drying.web.app</a:t>
            </a:r>
          </a:p>
        </p:txBody>
      </p:sp>
    </p:spTree>
    <p:extLst>
      <p:ext uri="{BB962C8B-B14F-4D97-AF65-F5344CB8AC3E}">
        <p14:creationId xmlns:p14="http://schemas.microsoft.com/office/powerpoint/2010/main" val="136436261"/>
      </p:ext>
    </p:extLst>
  </p:cSld>
</p:sld>
</file>

<file path=ppt/slides/slide2.xml><?xml version="1.0" encoding="utf-8"?>
<p:sld xmlns:p="http://schemas.openxmlformats.org/presentationml/2006/main">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10" name="The work after the weather report">
            <a:extLst xmlns:a="http://schemas.openxmlformats.org/drawingml/2006/main">
              <a:ext uri="{FF2B5EF4-FFF2-40B4-BE49-F238E27FC236}">
                <a16:creationId xmlns:a16="http://schemas.microsoft.com/office/drawing/2014/main" id="{48FEFF08-7AB0-4BEE-946A-A543B6C33ADA}"/>
              </a:ext>
            </a:extLst>
          </p:cNvPr>
          <p:cNvSpPr>
            <a:spLocks xmlns:a="http://schemas.openxmlformats.org/drawingml/2006/main" noGrp="1"/>
          </p:cNvSpPr>
          <p:nvPr/>
        </p:nvSpPr>
        <p:spPr>
          <a:xfrm xmlns:a="http://schemas.openxmlformats.org/drawingml/2006/main">
            <a:off x="685800" y="5143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244D37"/>
                </a:solidFill>
                <a:latin typeface="Manrope"/>
                <a:ea typeface="Manrope"/>
                <a:cs typeface="Manrope"/>
              </a:defRPr>
            </a:pPr>
            <a:r>
              <a:rPr sz="3600" b="1">
                <a:solidFill>
                  <a:srgbClr val="244D37"/>
                </a:solidFill>
                <a:latin typeface="Manrope"/>
                <a:ea typeface="Manrope"/>
                <a:cs typeface="Manrope"/>
              </a:rPr>
              <a:t>The work after the weather report</a:t>
            </a:r>
          </a:p>
        </p:txBody>
      </p:sp>
      <p:sp>
        <p:nvSpPr>
          <p:cNvPr id="2" name="Which lot&#10;needs action&#10;next?">
            <a:extLst xmlns:a="http://schemas.openxmlformats.org/drawingml/2006/main">
              <a:ext uri="{FF2B5EF4-FFF2-40B4-BE49-F238E27FC236}">
                <a16:creationId xmlns:a16="http://schemas.microsoft.com/office/drawing/2014/main" id="{2D9FE348-7C05-4CFD-90BB-D2CF9C5694F6}"/>
              </a:ext>
            </a:extLst>
          </p:cNvPr>
          <p:cNvSpPr>
            <a:spLocks xmlns:a="http://schemas.openxmlformats.org/drawingml/2006/main" noGrp="1"/>
          </p:cNvSpPr>
          <p:nvPr/>
        </p:nvSpPr>
        <p:spPr>
          <a:xfrm xmlns:a="http://schemas.openxmlformats.org/drawingml/2006/main">
            <a:off x="685800" y="2000250"/>
            <a:ext cx="5048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250" b="1">
                <a:solidFill>
                  <a:srgbClr val="244D37"/>
                </a:solidFill>
                <a:latin typeface="Manrope"/>
                <a:ea typeface="Manrope"/>
                <a:cs typeface="Manrope"/>
              </a:defRPr>
            </a:pPr>
            <a:r>
              <a:rPr sz="5250" b="1">
                <a:solidFill>
                  <a:srgbClr val="244D37"/>
                </a:solidFill>
                <a:latin typeface="Manrope"/>
                <a:ea typeface="Manrope"/>
                <a:cs typeface="Manrope"/>
              </a:rPr>
              <a:t>Which lot</a:t>
            </a:r>
          </a:p>
          <a:p xmlns:a="http://schemas.openxmlformats.org/drawingml/2006/main">
            <a:pPr>
              <a:defRPr sz="5250" b="1">
                <a:solidFill>
                  <a:srgbClr val="244D37"/>
                </a:solidFill>
                <a:latin typeface="Manrope"/>
                <a:ea typeface="Manrope"/>
                <a:cs typeface="Manrope"/>
              </a:defRPr>
            </a:pPr>
            <a:r>
              <a:rPr sz="5250" b="1">
                <a:solidFill>
                  <a:srgbClr val="244D37"/>
                </a:solidFill>
                <a:latin typeface="Manrope"/>
                <a:ea typeface="Manrope"/>
                <a:cs typeface="Manrope"/>
              </a:rPr>
              <a:t>needs action</a:t>
            </a:r>
          </a:p>
          <a:p xmlns:a="http://schemas.openxmlformats.org/drawingml/2006/main">
            <a:pPr>
              <a:defRPr sz="5250" b="1">
                <a:solidFill>
                  <a:srgbClr val="244D37"/>
                </a:solidFill>
                <a:latin typeface="Manrope"/>
                <a:ea typeface="Manrope"/>
                <a:cs typeface="Manrope"/>
              </a:defRPr>
            </a:pPr>
            <a:r>
              <a:rPr sz="5250" b="1">
                <a:solidFill>
                  <a:srgbClr val="244D37"/>
                </a:solidFill>
                <a:latin typeface="Manrope"/>
                <a:ea typeface="Manrope"/>
                <a:cs typeface="Manrope"/>
              </a:rPr>
              <a:t>next?</a:t>
            </a:r>
          </a:p>
        </p:txBody>
      </p:sp>
      <p:sp>
        <p:nvSpPr>
          <p:cNvPr id="3" name="Spread and turn">
            <a:extLst xmlns:a="http://schemas.openxmlformats.org/drawingml/2006/main">
              <a:ext uri="{FF2B5EF4-FFF2-40B4-BE49-F238E27FC236}">
                <a16:creationId xmlns:a16="http://schemas.microsoft.com/office/drawing/2014/main" id="{DAF75EB9-6649-4D66-9B01-CEE534D3A499}"/>
              </a:ext>
            </a:extLst>
          </p:cNvPr>
          <p:cNvSpPr>
            <a:spLocks xmlns:a="http://schemas.openxmlformats.org/drawingml/2006/main" noGrp="1"/>
          </p:cNvSpPr>
          <p:nvPr/>
        </p:nvSpPr>
        <p:spPr>
          <a:xfrm xmlns:a="http://schemas.openxmlformats.org/drawingml/2006/main">
            <a:off x="6591300" y="195262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244D37"/>
                </a:solidFill>
                <a:latin typeface="DM Sans"/>
                <a:ea typeface="DM Sans"/>
                <a:cs typeface="DM Sans"/>
              </a:defRPr>
            </a:pPr>
            <a:r>
              <a:rPr sz="2400" b="1">
                <a:solidFill>
                  <a:srgbClr val="244D37"/>
                </a:solidFill>
                <a:latin typeface="DM Sans"/>
                <a:ea typeface="DM Sans"/>
                <a:cs typeface="DM Sans"/>
              </a:rPr>
              <a:t>Spread and turn</a:t>
            </a:r>
          </a:p>
        </p:txBody>
      </p:sp>
      <p:sp>
        <p:nvSpPr>
          <p:cNvPr id="4" name="Use the available yard and operator time.">
            <a:extLst xmlns:a="http://schemas.openxmlformats.org/drawingml/2006/main">
              <a:ext uri="{FF2B5EF4-FFF2-40B4-BE49-F238E27FC236}">
                <a16:creationId xmlns:a16="http://schemas.microsoft.com/office/drawing/2014/main" id="{AE3C0EF8-709C-4BE8-81D8-2BE34520CD18}"/>
              </a:ext>
            </a:extLst>
          </p:cNvPr>
          <p:cNvSpPr>
            <a:spLocks xmlns:a="http://schemas.openxmlformats.org/drawingml/2006/main" noGrp="1"/>
          </p:cNvSpPr>
          <p:nvPr/>
        </p:nvSpPr>
        <p:spPr>
          <a:xfrm xmlns:a="http://schemas.openxmlformats.org/drawingml/2006/main">
            <a:off x="6591300" y="2476500"/>
            <a:ext cx="4619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667561"/>
                </a:solidFill>
                <a:latin typeface="DM Sans"/>
                <a:ea typeface="DM Sans"/>
                <a:cs typeface="DM Sans"/>
              </a:defRPr>
            </a:pPr>
            <a:r>
              <a:rPr sz="1875" b="0">
                <a:solidFill>
                  <a:srgbClr val="667561"/>
                </a:solidFill>
                <a:latin typeface="DM Sans"/>
                <a:ea typeface="DM Sans"/>
                <a:cs typeface="DM Sans"/>
              </a:rPr>
              <a:t>Use the available yard and operator time.</a:t>
            </a:r>
          </a:p>
        </p:txBody>
      </p:sp>
      <p:sp>
        <p:nvSpPr>
          <p:cNvPr id="5" name="Cover or seek a dryer">
            <a:extLst xmlns:a="http://schemas.openxmlformats.org/drawingml/2006/main">
              <a:ext uri="{FF2B5EF4-FFF2-40B4-BE49-F238E27FC236}">
                <a16:creationId xmlns:a16="http://schemas.microsoft.com/office/drawing/2014/main" id="{C8DDCB11-AE53-4FEB-8DD4-04B4CB7A2F84}"/>
              </a:ext>
            </a:extLst>
          </p:cNvPr>
          <p:cNvSpPr>
            <a:spLocks xmlns:a="http://schemas.openxmlformats.org/drawingml/2006/main" noGrp="1"/>
          </p:cNvSpPr>
          <p:nvPr/>
        </p:nvSpPr>
        <p:spPr>
          <a:xfrm xmlns:a="http://schemas.openxmlformats.org/drawingml/2006/main">
            <a:off x="6591300" y="334327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244D37"/>
                </a:solidFill>
                <a:latin typeface="DM Sans"/>
                <a:ea typeface="DM Sans"/>
                <a:cs typeface="DM Sans"/>
              </a:defRPr>
            </a:pPr>
            <a:r>
              <a:rPr sz="2400" b="1">
                <a:solidFill>
                  <a:srgbClr val="244D37"/>
                </a:solidFill>
                <a:latin typeface="DM Sans"/>
                <a:ea typeface="DM Sans"/>
                <a:cs typeface="DM Sans"/>
              </a:rPr>
              <a:t>Cover or seek a dryer</a:t>
            </a:r>
          </a:p>
        </p:txBody>
      </p:sp>
      <p:sp>
        <p:nvSpPr>
          <p:cNvPr id="6" name="Respond when the weather changes.">
            <a:extLst xmlns:a="http://schemas.openxmlformats.org/drawingml/2006/main">
              <a:ext uri="{FF2B5EF4-FFF2-40B4-BE49-F238E27FC236}">
                <a16:creationId xmlns:a16="http://schemas.microsoft.com/office/drawing/2014/main" id="{82406BD1-24AB-4203-A136-9C5A12EA9202}"/>
              </a:ext>
            </a:extLst>
          </p:cNvPr>
          <p:cNvSpPr>
            <a:spLocks xmlns:a="http://schemas.openxmlformats.org/drawingml/2006/main" noGrp="1"/>
          </p:cNvSpPr>
          <p:nvPr/>
        </p:nvSpPr>
        <p:spPr>
          <a:xfrm xmlns:a="http://schemas.openxmlformats.org/drawingml/2006/main">
            <a:off x="6591300" y="3857625"/>
            <a:ext cx="4619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667561"/>
                </a:solidFill>
                <a:latin typeface="DM Sans"/>
                <a:ea typeface="DM Sans"/>
                <a:cs typeface="DM Sans"/>
              </a:defRPr>
            </a:pPr>
            <a:r>
              <a:rPr sz="1875" b="0">
                <a:solidFill>
                  <a:srgbClr val="667561"/>
                </a:solidFill>
                <a:latin typeface="DM Sans"/>
                <a:ea typeface="DM Sans"/>
                <a:cs typeface="DM Sans"/>
              </a:rPr>
              <a:t>Respond when the weather changes.</a:t>
            </a:r>
          </a:p>
        </p:txBody>
      </p:sp>
      <p:sp>
        <p:nvSpPr>
          <p:cNvPr id="7" name="Measure again">
            <a:extLst xmlns:a="http://schemas.openxmlformats.org/drawingml/2006/main">
              <a:ext uri="{FF2B5EF4-FFF2-40B4-BE49-F238E27FC236}">
                <a16:creationId xmlns:a16="http://schemas.microsoft.com/office/drawing/2014/main" id="{2A5148F7-E9DC-45DB-9561-5C605E702FC5}"/>
              </a:ext>
            </a:extLst>
          </p:cNvPr>
          <p:cNvSpPr>
            <a:spLocks xmlns:a="http://schemas.openxmlformats.org/drawingml/2006/main" noGrp="1"/>
          </p:cNvSpPr>
          <p:nvPr/>
        </p:nvSpPr>
        <p:spPr>
          <a:xfrm xmlns:a="http://schemas.openxmlformats.org/drawingml/2006/main">
            <a:off x="6591300" y="470535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244D37"/>
                </a:solidFill>
                <a:latin typeface="DM Sans"/>
                <a:ea typeface="DM Sans"/>
                <a:cs typeface="DM Sans"/>
              </a:defRPr>
            </a:pPr>
            <a:r>
              <a:rPr sz="2400" b="1">
                <a:solidFill>
                  <a:srgbClr val="244D37"/>
                </a:solidFill>
                <a:latin typeface="DM Sans"/>
                <a:ea typeface="DM Sans"/>
                <a:cs typeface="DM Sans"/>
              </a:rPr>
              <a:t>Measure again</a:t>
            </a:r>
          </a:p>
        </p:txBody>
      </p:sp>
      <p:sp>
        <p:nvSpPr>
          <p:cNvPr id="8" name="A new reading decides the next step.">
            <a:extLst xmlns:a="http://schemas.openxmlformats.org/drawingml/2006/main">
              <a:ext uri="{FF2B5EF4-FFF2-40B4-BE49-F238E27FC236}">
                <a16:creationId xmlns:a16="http://schemas.microsoft.com/office/drawing/2014/main" id="{E3E29871-2CE9-42F0-A71D-0DD5A8903C9B}"/>
              </a:ext>
            </a:extLst>
          </p:cNvPr>
          <p:cNvSpPr>
            <a:spLocks xmlns:a="http://schemas.openxmlformats.org/drawingml/2006/main" noGrp="1"/>
          </p:cNvSpPr>
          <p:nvPr/>
        </p:nvSpPr>
        <p:spPr>
          <a:xfrm xmlns:a="http://schemas.openxmlformats.org/drawingml/2006/main">
            <a:off x="6591300" y="5219700"/>
            <a:ext cx="4619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667561"/>
                </a:solidFill>
                <a:latin typeface="DM Sans"/>
                <a:ea typeface="DM Sans"/>
                <a:cs typeface="DM Sans"/>
              </a:defRPr>
            </a:pPr>
            <a:r>
              <a:rPr sz="1875" b="0">
                <a:solidFill>
                  <a:srgbClr val="667561"/>
                </a:solidFill>
                <a:latin typeface="DM Sans"/>
                <a:ea typeface="DM Sans"/>
                <a:cs typeface="DM Sans"/>
              </a:rPr>
              <a:t>A new reading decides the next step.</a:t>
            </a:r>
          </a:p>
        </p:txBody>
      </p:sp>
      <p:sp>
        <p:nvSpPr>
          <p:cNvPr id="9" name="Kavu    02">
            <a:extLst xmlns:a="http://schemas.openxmlformats.org/drawingml/2006/main">
              <a:ext uri="{FF2B5EF4-FFF2-40B4-BE49-F238E27FC236}">
                <a16:creationId xmlns:a16="http://schemas.microsoft.com/office/drawing/2014/main" id="{958621FC-4342-4F85-A435-400CA466FBAC}"/>
              </a:ext>
            </a:extLst>
          </p:cNvPr>
          <p:cNvSpPr>
            <a:spLocks xmlns:a="http://schemas.openxmlformats.org/drawingml/2006/main" noGrp="1"/>
          </p:cNvSpPr>
          <p:nvPr/>
        </p:nvSpPr>
        <p:spPr>
          <a:xfrm xmlns:a="http://schemas.openxmlformats.org/drawingml/2006/main">
            <a:off x="6858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67561"/>
                </a:solidFill>
                <a:latin typeface="DM Sans"/>
                <a:ea typeface="DM Sans"/>
                <a:cs typeface="DM Sans"/>
              </a:defRPr>
            </a:pPr>
            <a:r>
              <a:rPr sz="1200" b="0">
                <a:solidFill>
                  <a:srgbClr val="667561"/>
                </a:solidFill>
                <a:latin typeface="DM Sans"/>
                <a:ea typeface="DM Sans"/>
                <a:cs typeface="DM Sans"/>
              </a:rPr>
              <a:t>Kavu    02</a:t>
            </a:r>
          </a:p>
        </p:txBody>
      </p:sp>
    </p:spTree>
    <p:extLst>
      <p:ext uri="{BB962C8B-B14F-4D97-AF65-F5344CB8AC3E}">
        <p14:creationId xmlns:p14="http://schemas.microsoft.com/office/powerpoint/2010/main" val="1171318589"/>
      </p:ext>
    </p:extLst>
  </p:cSld>
</p:sld>
</file>

<file path=ppt/slides/slide3.xml><?xml version="1.0" encoding="utf-8"?>
<p:sld xmlns:p="http://schemas.openxmlformats.org/presentationml/2006/main">
  <p:cSld>
    <p:bg>
      <p:bgPr>
        <a:solidFill xmlns:a="http://schemas.openxmlformats.org/drawingml/2006/main">
          <a:srgbClr val="244D37"/>
        </a:solidFill>
      </p:bgPr>
    </p:bg>
    <p:spTree>
      <p:nvGrpSpPr>
        <p:cNvPr id="1" name=""/>
        <p:cNvGrpSpPr/>
        <p:nvPr/>
      </p:nvGrpSpPr>
      <p:grpSpPr>
        <a:xfrm xmlns:a="http://schemas.openxmlformats.org/drawingml/2006/main"/>
      </p:grpSpPr>
      <p:sp>
        <p:nvSpPr>
          <p:cNvPr id="10" name="Conduit changes the work plan">
            <a:extLst xmlns:a="http://schemas.openxmlformats.org/drawingml/2006/main">
              <a:ext uri="{FF2B5EF4-FFF2-40B4-BE49-F238E27FC236}">
                <a16:creationId xmlns:a16="http://schemas.microsoft.com/office/drawing/2014/main" id="{27517AA6-26BB-4B34-8452-86DC8006C4F0}"/>
              </a:ext>
            </a:extLst>
          </p:cNvPr>
          <p:cNvSpPr>
            <a:spLocks xmlns:a="http://schemas.openxmlformats.org/drawingml/2006/main" noGrp="1"/>
          </p:cNvSpPr>
          <p:nvPr/>
        </p:nvSpPr>
        <p:spPr>
          <a:xfrm xmlns:a="http://schemas.openxmlformats.org/drawingml/2006/main">
            <a:off x="685800" y="5143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F8F9F5"/>
                </a:solidFill>
                <a:latin typeface="Manrope"/>
                <a:ea typeface="Manrope"/>
                <a:cs typeface="Manrope"/>
              </a:defRPr>
            </a:pPr>
            <a:r>
              <a:rPr sz="3600" b="1">
                <a:solidFill>
                  <a:srgbClr val="F8F9F5"/>
                </a:solidFill>
                <a:latin typeface="Manrope"/>
                <a:ea typeface="Manrope"/>
                <a:cs typeface="Manrope"/>
              </a:rPr>
              <a:t>Conduit changes the work plan</a:t>
            </a:r>
          </a:p>
        </p:txBody>
      </p:sp>
      <p:sp>
        <p:nvSpPr>
          <p:cNvPr id="2" name="18,364">
            <a:extLst xmlns:a="http://schemas.openxmlformats.org/drawingml/2006/main">
              <a:ext uri="{FF2B5EF4-FFF2-40B4-BE49-F238E27FC236}">
                <a16:creationId xmlns:a16="http://schemas.microsoft.com/office/drawing/2014/main" id="{37EA1F1A-F982-4B9D-B933-7EDB78B29706}"/>
              </a:ext>
            </a:extLst>
          </p:cNvPr>
          <p:cNvSpPr>
            <a:spLocks xmlns:a="http://schemas.openxmlformats.org/drawingml/2006/main" noGrp="1"/>
          </p:cNvSpPr>
          <p:nvPr/>
        </p:nvSpPr>
        <p:spPr>
          <a:xfrm xmlns:a="http://schemas.openxmlformats.org/drawingml/2006/main">
            <a:off x="723900" y="1809750"/>
            <a:ext cx="5524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1">
                <a:solidFill>
                  <a:srgbClr val="F8F9F5"/>
                </a:solidFill>
                <a:latin typeface="Manrope"/>
                <a:ea typeface="Manrope"/>
                <a:cs typeface="Manrope"/>
              </a:defRPr>
            </a:pPr>
            <a:r>
              <a:rPr sz="5700" b="1">
                <a:solidFill>
                  <a:srgbClr val="F8F9F5"/>
                </a:solidFill>
                <a:latin typeface="Manrope"/>
                <a:ea typeface="Manrope"/>
                <a:cs typeface="Manrope"/>
              </a:rPr>
              <a:t>18,364</a:t>
            </a:r>
          </a:p>
        </p:txBody>
      </p:sp>
      <p:sp>
        <p:nvSpPr>
          <p:cNvPr id="3" name="unique observations with traceable sources">
            <a:extLst xmlns:a="http://schemas.openxmlformats.org/drawingml/2006/main">
              <a:ext uri="{FF2B5EF4-FFF2-40B4-BE49-F238E27FC236}">
                <a16:creationId xmlns:a16="http://schemas.microsoft.com/office/drawing/2014/main" id="{A21E7078-63E5-4071-A256-A062FCDCE3BC}"/>
              </a:ext>
            </a:extLst>
          </p:cNvPr>
          <p:cNvSpPr>
            <a:spLocks xmlns:a="http://schemas.openxmlformats.org/drawingml/2006/main" noGrp="1"/>
          </p:cNvSpPr>
          <p:nvPr/>
        </p:nvSpPr>
        <p:spPr>
          <a:xfrm xmlns:a="http://schemas.openxmlformats.org/drawingml/2006/main">
            <a:off x="752475" y="28003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DEE5D9"/>
                </a:solidFill>
                <a:latin typeface="DM Sans"/>
                <a:ea typeface="DM Sans"/>
                <a:cs typeface="DM Sans"/>
              </a:defRPr>
            </a:pPr>
            <a:r>
              <a:rPr sz="2025" b="0">
                <a:solidFill>
                  <a:srgbClr val="DEE5D9"/>
                </a:solidFill>
                <a:latin typeface="DM Sans"/>
                <a:ea typeface="DM Sans"/>
                <a:cs typeface="DM Sans"/>
              </a:rPr>
              <a:t>unique observations with traceable sources</a:t>
            </a:r>
          </a:p>
        </p:txBody>
      </p:sp>
      <p:sp>
        <p:nvSpPr>
          <p:cNvPr id="4" name="2,700 kg">
            <a:extLst xmlns:a="http://schemas.openxmlformats.org/drawingml/2006/main">
              <a:ext uri="{FF2B5EF4-FFF2-40B4-BE49-F238E27FC236}">
                <a16:creationId xmlns:a16="http://schemas.microsoft.com/office/drawing/2014/main" id="{8FDC3751-74A5-477A-8F58-9841E8023024}"/>
              </a:ext>
            </a:extLst>
          </p:cNvPr>
          <p:cNvSpPr>
            <a:spLocks xmlns:a="http://schemas.openxmlformats.org/drawingml/2006/main" noGrp="1"/>
          </p:cNvSpPr>
          <p:nvPr/>
        </p:nvSpPr>
        <p:spPr>
          <a:xfrm xmlns:a="http://schemas.openxmlformats.org/drawingml/2006/main">
            <a:off x="733425" y="3867150"/>
            <a:ext cx="5619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800" b="1">
                <a:solidFill>
                  <a:srgbClr val="D0A650"/>
                </a:solidFill>
                <a:latin typeface="Manrope"/>
                <a:ea typeface="Manrope"/>
                <a:cs typeface="Manrope"/>
              </a:defRPr>
            </a:pPr>
            <a:r>
              <a:rPr sz="4800" b="1">
                <a:solidFill>
                  <a:srgbClr val="D0A650"/>
                </a:solidFill>
                <a:latin typeface="Manrope"/>
                <a:ea typeface="Manrope"/>
                <a:cs typeface="Manrope"/>
              </a:rPr>
              <a:t>2,700 kg</a:t>
            </a:r>
          </a:p>
        </p:txBody>
      </p:sp>
      <p:sp>
        <p:nvSpPr>
          <p:cNvPr id="5" name="12 September: outdoor allocation">
            <a:extLst xmlns:a="http://schemas.openxmlformats.org/drawingml/2006/main">
              <a:ext uri="{FF2B5EF4-FFF2-40B4-BE49-F238E27FC236}">
                <a16:creationId xmlns:a16="http://schemas.microsoft.com/office/drawing/2014/main" id="{825D6652-1564-4E28-B959-8C864D1FC1A9}"/>
              </a:ext>
            </a:extLst>
          </p:cNvPr>
          <p:cNvSpPr>
            <a:spLocks xmlns:a="http://schemas.openxmlformats.org/drawingml/2006/main" noGrp="1"/>
          </p:cNvSpPr>
          <p:nvPr/>
        </p:nvSpPr>
        <p:spPr>
          <a:xfrm xmlns:a="http://schemas.openxmlformats.org/drawingml/2006/main">
            <a:off x="762000" y="4752975"/>
            <a:ext cx="542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DEE5D9"/>
                </a:solidFill>
                <a:latin typeface="DM Sans"/>
                <a:ea typeface="DM Sans"/>
                <a:cs typeface="DM Sans"/>
              </a:defRPr>
            </a:pPr>
            <a:r>
              <a:rPr sz="1950" b="0">
                <a:solidFill>
                  <a:srgbClr val="DEE5D9"/>
                </a:solidFill>
                <a:latin typeface="DM Sans"/>
                <a:ea typeface="DM Sans"/>
                <a:cs typeface="DM Sans"/>
              </a:rPr>
              <a:t>12 September: outdoor allocation</a:t>
            </a:r>
          </a:p>
        </p:txBody>
      </p:sp>
      <p:sp>
        <p:nvSpPr>
          <p:cNvPr id="6" name="0 kg">
            <a:extLst xmlns:a="http://schemas.openxmlformats.org/drawingml/2006/main">
              <a:ext uri="{FF2B5EF4-FFF2-40B4-BE49-F238E27FC236}">
                <a16:creationId xmlns:a16="http://schemas.microsoft.com/office/drawing/2014/main" id="{95384DC6-9DE7-4BF5-9463-791F40FC4CFD}"/>
              </a:ext>
            </a:extLst>
          </p:cNvPr>
          <p:cNvSpPr>
            <a:spLocks xmlns:a="http://schemas.openxmlformats.org/drawingml/2006/main" noGrp="1"/>
          </p:cNvSpPr>
          <p:nvPr/>
        </p:nvSpPr>
        <p:spPr>
          <a:xfrm xmlns:a="http://schemas.openxmlformats.org/drawingml/2006/main">
            <a:off x="7077075" y="3867150"/>
            <a:ext cx="4191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800" b="1">
                <a:solidFill>
                  <a:srgbClr val="D0A650"/>
                </a:solidFill>
                <a:latin typeface="Manrope"/>
                <a:ea typeface="Manrope"/>
                <a:cs typeface="Manrope"/>
              </a:defRPr>
            </a:pPr>
            <a:r>
              <a:rPr sz="4800" b="1">
                <a:solidFill>
                  <a:srgbClr val="D0A650"/>
                </a:solidFill>
                <a:latin typeface="Manrope"/>
                <a:ea typeface="Manrope"/>
                <a:cs typeface="Manrope"/>
              </a:rPr>
              <a:t>0 kg</a:t>
            </a:r>
          </a:p>
        </p:txBody>
      </p:sp>
      <p:sp>
        <p:nvSpPr>
          <p:cNvPr id="7" name="Humid day or missing evidence">
            <a:extLst xmlns:a="http://schemas.openxmlformats.org/drawingml/2006/main">
              <a:ext uri="{FF2B5EF4-FFF2-40B4-BE49-F238E27FC236}">
                <a16:creationId xmlns:a16="http://schemas.microsoft.com/office/drawing/2014/main" id="{BBE52EF8-E80B-4B94-B926-3F77BF1C66A9}"/>
              </a:ext>
            </a:extLst>
          </p:cNvPr>
          <p:cNvSpPr>
            <a:spLocks xmlns:a="http://schemas.openxmlformats.org/drawingml/2006/main" noGrp="1"/>
          </p:cNvSpPr>
          <p:nvPr/>
        </p:nvSpPr>
        <p:spPr>
          <a:xfrm xmlns:a="http://schemas.openxmlformats.org/drawingml/2006/main">
            <a:off x="7115175" y="4752975"/>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DEE5D9"/>
                </a:solidFill>
                <a:latin typeface="DM Sans"/>
                <a:ea typeface="DM Sans"/>
                <a:cs typeface="DM Sans"/>
              </a:defRPr>
            </a:pPr>
            <a:r>
              <a:rPr sz="1950" b="0">
                <a:solidFill>
                  <a:srgbClr val="DEE5D9"/>
                </a:solidFill>
                <a:latin typeface="DM Sans"/>
                <a:ea typeface="DM Sans"/>
                <a:cs typeface="DM Sans"/>
              </a:rPr>
              <a:t>Humid day or missing evidence</a:t>
            </a:r>
          </a:p>
        </p:txBody>
      </p:sp>
      <p:sp>
        <p:nvSpPr>
          <p:cNvPr id="8" name="Same example lots, deadlines and capacity. Re">
            <a:extLst xmlns:a="http://schemas.openxmlformats.org/drawingml/2006/main">
              <a:ext uri="{FF2B5EF4-FFF2-40B4-BE49-F238E27FC236}">
                <a16:creationId xmlns:a16="http://schemas.microsoft.com/office/drawing/2014/main" id="{797F3260-B5BC-4A1A-BDB5-CD259057A59D}"/>
              </a:ext>
            </a:extLst>
          </p:cNvPr>
          <p:cNvSpPr>
            <a:spLocks xmlns:a="http://schemas.openxmlformats.org/drawingml/2006/main" noGrp="1"/>
          </p:cNvSpPr>
          <p:nvPr/>
        </p:nvSpPr>
        <p:spPr>
          <a:xfrm xmlns:a="http://schemas.openxmlformats.org/drawingml/2006/main">
            <a:off x="762000" y="56864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DEE5D9"/>
                </a:solidFill>
                <a:latin typeface="DM Sans"/>
                <a:ea typeface="DM Sans"/>
                <a:cs typeface="DM Sans"/>
              </a:defRPr>
            </a:pPr>
            <a:r>
              <a:rPr sz="1800" b="0">
                <a:solidFill>
                  <a:srgbClr val="DEE5D9"/>
                </a:solidFill>
                <a:latin typeface="DM Sans"/>
                <a:ea typeface="DM Sans"/>
                <a:cs typeface="DM Sans"/>
              </a:rPr>
              <a:t>Same example lots, deadlines and capacity. Retrospective comparison.</a:t>
            </a:r>
          </a:p>
        </p:txBody>
      </p:sp>
      <p:sp>
        <p:nvSpPr>
          <p:cNvPr id="9" name="Kavu    03">
            <a:extLst xmlns:a="http://schemas.openxmlformats.org/drawingml/2006/main">
              <a:ext uri="{FF2B5EF4-FFF2-40B4-BE49-F238E27FC236}">
                <a16:creationId xmlns:a16="http://schemas.microsoft.com/office/drawing/2014/main" id="{28519EBF-E7E8-4378-A024-4CE56A80D209}"/>
              </a:ext>
            </a:extLst>
          </p:cNvPr>
          <p:cNvSpPr>
            <a:spLocks xmlns:a="http://schemas.openxmlformats.org/drawingml/2006/main" noGrp="1"/>
          </p:cNvSpPr>
          <p:nvPr/>
        </p:nvSpPr>
        <p:spPr>
          <a:xfrm xmlns:a="http://schemas.openxmlformats.org/drawingml/2006/main">
            <a:off x="6858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DEE5D9"/>
                </a:solidFill>
                <a:latin typeface="DM Sans"/>
                <a:ea typeface="DM Sans"/>
                <a:cs typeface="DM Sans"/>
              </a:defRPr>
            </a:pPr>
            <a:r>
              <a:rPr sz="1200" b="0">
                <a:solidFill>
                  <a:srgbClr val="DEE5D9"/>
                </a:solidFill>
                <a:latin typeface="DM Sans"/>
                <a:ea typeface="DM Sans"/>
                <a:cs typeface="DM Sans"/>
              </a:rPr>
              <a:t>Kavu    03</a:t>
            </a:r>
          </a:p>
        </p:txBody>
      </p:sp>
    </p:spTree>
    <p:extLst>
      <p:ext uri="{BB962C8B-B14F-4D97-AF65-F5344CB8AC3E}">
        <p14:creationId xmlns:p14="http://schemas.microsoft.com/office/powerpoint/2010/main" val="120248981"/>
      </p:ext>
    </p:extLst>
  </p:cSld>
</p:sld>
</file>

<file path=ppt/slides/slide4.xml><?xml version="1.0" encoding="utf-8"?>
<p:sld xmlns:p="http://schemas.openxmlformats.org/presentationml/2006/main">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6" name="One workspace for the next job">
            <a:extLst xmlns:a="http://schemas.openxmlformats.org/drawingml/2006/main">
              <a:ext uri="{FF2B5EF4-FFF2-40B4-BE49-F238E27FC236}">
                <a16:creationId xmlns:a16="http://schemas.microsoft.com/office/drawing/2014/main" id="{7618612E-EC73-4258-99F3-2CE220688603}"/>
              </a:ext>
            </a:extLst>
          </p:cNvPr>
          <p:cNvSpPr>
            <a:spLocks xmlns:a="http://schemas.openxmlformats.org/drawingml/2006/main" noGrp="1"/>
          </p:cNvSpPr>
          <p:nvPr/>
        </p:nvSpPr>
        <p:spPr>
          <a:xfrm xmlns:a="http://schemas.openxmlformats.org/drawingml/2006/main">
            <a:off x="685800" y="5143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244D37"/>
                </a:solidFill>
                <a:latin typeface="Manrope"/>
                <a:ea typeface="Manrope"/>
                <a:cs typeface="Manrope"/>
              </a:defRPr>
            </a:pPr>
            <a:r>
              <a:rPr sz="3600" b="1">
                <a:solidFill>
                  <a:srgbClr val="244D37"/>
                </a:solidFill>
                <a:latin typeface="Manrope"/>
                <a:ea typeface="Manrope"/>
                <a:cs typeface="Manrope"/>
              </a:rPr>
              <a:t>One workspace for the next job</a:t>
            </a:r>
          </a:p>
        </p:txBody>
      </p:sp>
      <p:sp>
        <p:nvSpPr>
          <p:cNvPr id="2" name="A plan the&#10;operator can&#10;carry out">
            <a:extLst xmlns:a="http://schemas.openxmlformats.org/drawingml/2006/main">
              <a:ext uri="{FF2B5EF4-FFF2-40B4-BE49-F238E27FC236}">
                <a16:creationId xmlns:a16="http://schemas.microsoft.com/office/drawing/2014/main" id="{D95D93F0-0776-4E2A-8AC4-0466F102C0F2}"/>
              </a:ext>
            </a:extLst>
          </p:cNvPr>
          <p:cNvSpPr>
            <a:spLocks xmlns:a="http://schemas.openxmlformats.org/drawingml/2006/main" noGrp="1"/>
          </p:cNvSpPr>
          <p:nvPr/>
        </p:nvSpPr>
        <p:spPr>
          <a:xfrm xmlns:a="http://schemas.openxmlformats.org/drawingml/2006/main">
            <a:off x="685800" y="2066925"/>
            <a:ext cx="3429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244D37"/>
                </a:solidFill>
                <a:latin typeface="Manrope"/>
                <a:ea typeface="Manrope"/>
                <a:cs typeface="Manrope"/>
              </a:defRPr>
            </a:pPr>
            <a:r>
              <a:rPr sz="3300" b="1">
                <a:solidFill>
                  <a:srgbClr val="244D37"/>
                </a:solidFill>
                <a:latin typeface="Manrope"/>
                <a:ea typeface="Manrope"/>
                <a:cs typeface="Manrope"/>
              </a:rPr>
              <a:t>A plan the</a:t>
            </a:r>
          </a:p>
          <a:p xmlns:a="http://schemas.openxmlformats.org/drawingml/2006/main">
            <a:pPr>
              <a:defRPr sz="3300" b="1">
                <a:solidFill>
                  <a:srgbClr val="244D37"/>
                </a:solidFill>
                <a:latin typeface="Manrope"/>
                <a:ea typeface="Manrope"/>
                <a:cs typeface="Manrope"/>
              </a:defRPr>
            </a:pPr>
            <a:r>
              <a:rPr sz="3300" b="1">
                <a:solidFill>
                  <a:srgbClr val="244D37"/>
                </a:solidFill>
                <a:latin typeface="Manrope"/>
                <a:ea typeface="Manrope"/>
                <a:cs typeface="Manrope"/>
              </a:rPr>
              <a:t>operator can</a:t>
            </a:r>
          </a:p>
          <a:p xmlns:a="http://schemas.openxmlformats.org/drawingml/2006/main">
            <a:pPr>
              <a:defRPr sz="3300" b="1">
                <a:solidFill>
                  <a:srgbClr val="244D37"/>
                </a:solidFill>
                <a:latin typeface="Manrope"/>
                <a:ea typeface="Manrope"/>
                <a:cs typeface="Manrope"/>
              </a:defRPr>
            </a:pPr>
            <a:r>
              <a:rPr sz="3300" b="1">
                <a:solidFill>
                  <a:srgbClr val="244D37"/>
                </a:solidFill>
                <a:latin typeface="Manrope"/>
                <a:ea typeface="Manrope"/>
                <a:cs typeface="Manrope"/>
              </a:rPr>
              <a:t>carry out</a:t>
            </a:r>
          </a:p>
        </p:txBody>
      </p:sp>
      <p:sp>
        <p:nvSpPr>
          <p:cNvPr id="3" name="Capacity-aware allocation&#10;&#10;Recorded task comp">
            <a:extLst xmlns:a="http://schemas.openxmlformats.org/drawingml/2006/main">
              <a:ext uri="{FF2B5EF4-FFF2-40B4-BE49-F238E27FC236}">
                <a16:creationId xmlns:a16="http://schemas.microsoft.com/office/drawing/2014/main" id="{0A47003D-FA15-4613-9759-5BF2F9D273BD}"/>
              </a:ext>
            </a:extLst>
          </p:cNvPr>
          <p:cNvSpPr>
            <a:spLocks xmlns:a="http://schemas.openxmlformats.org/drawingml/2006/main" noGrp="1"/>
          </p:cNvSpPr>
          <p:nvPr/>
        </p:nvSpPr>
        <p:spPr>
          <a:xfrm xmlns:a="http://schemas.openxmlformats.org/drawingml/2006/main">
            <a:off x="714375" y="4257675"/>
            <a:ext cx="3286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667561"/>
                </a:solidFill>
                <a:latin typeface="DM Sans"/>
                <a:ea typeface="DM Sans"/>
                <a:cs typeface="DM Sans"/>
              </a:defRPr>
            </a:pPr>
            <a:r>
              <a:rPr sz="1875" b="0">
                <a:solidFill>
                  <a:srgbClr val="667561"/>
                </a:solidFill>
                <a:latin typeface="DM Sans"/>
                <a:ea typeface="DM Sans"/>
                <a:cs typeface="DM Sans"/>
              </a:rPr>
              <a:t>Capacity-aware allocation</a:t>
            </a:r>
          </a:p>
          <a:p xmlns:a="http://schemas.openxmlformats.org/drawingml/2006/main">
            <a:r>
              <a:t/>
            </a:r>
          </a:p>
          <a:p xmlns:a="http://schemas.openxmlformats.org/drawingml/2006/main">
            <a:pPr>
              <a:defRPr sz="1875" b="0">
                <a:solidFill>
                  <a:srgbClr val="667561"/>
                </a:solidFill>
                <a:latin typeface="DM Sans"/>
                <a:ea typeface="DM Sans"/>
                <a:cs typeface="DM Sans"/>
              </a:defRPr>
            </a:pPr>
            <a:r>
              <a:rPr sz="1875" b="0">
                <a:solidFill>
                  <a:srgbClr val="667561"/>
                </a:solidFill>
                <a:latin typeface="DM Sans"/>
                <a:ea typeface="DM Sans"/>
                <a:cs typeface="DM Sans"/>
              </a:rPr>
              <a:t>Recorded task completion</a:t>
            </a:r>
          </a:p>
          <a:p xmlns:a="http://schemas.openxmlformats.org/drawingml/2006/main">
            <a:r>
              <a:t/>
            </a:r>
          </a:p>
          <a:p xmlns:a="http://schemas.openxmlformats.org/drawingml/2006/main">
            <a:pPr>
              <a:defRPr sz="1875" b="0">
                <a:solidFill>
                  <a:srgbClr val="667561"/>
                </a:solidFill>
                <a:latin typeface="DM Sans"/>
                <a:ea typeface="DM Sans"/>
                <a:cs typeface="DM Sans"/>
              </a:defRPr>
            </a:pPr>
            <a:r>
              <a:rPr sz="1875" b="0">
                <a:solidFill>
                  <a:srgbClr val="667561"/>
                </a:solidFill>
                <a:latin typeface="DM Sans"/>
                <a:ea typeface="DM Sans"/>
                <a:cs typeface="DM Sans"/>
              </a:rPr>
              <a:t>Measured moisture history</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a6bd4872bd8438f"/>
          <a:stretch xmlns:a="http://schemas.openxmlformats.org/drawingml/2006/main"/>
        </p:blipFill>
        <p:spPr>
          <a:xfrm xmlns:a="http://schemas.openxmlformats.org/drawingml/2006/main">
            <a:off x="5045492" y="1533525"/>
            <a:ext cx="5796717" cy="4448175"/>
          </a:xfrm>
          <a:prstGeom xmlns:a="http://schemas.openxmlformats.org/drawingml/2006/main" prst="rect">
            <a:avLst/>
          </a:prstGeom>
        </p:spPr>
      </p:pic>
      <p:sp>
        <p:nvSpPr>
          <p:cNvPr id="5" name="Kavu    04">
            <a:extLst xmlns:a="http://schemas.openxmlformats.org/drawingml/2006/main">
              <a:ext uri="{FF2B5EF4-FFF2-40B4-BE49-F238E27FC236}">
                <a16:creationId xmlns:a16="http://schemas.microsoft.com/office/drawing/2014/main" id="{C50FD256-E2EB-4274-BE87-C96ABB6676A4}"/>
              </a:ext>
            </a:extLst>
          </p:cNvPr>
          <p:cNvSpPr>
            <a:spLocks xmlns:a="http://schemas.openxmlformats.org/drawingml/2006/main" noGrp="1"/>
          </p:cNvSpPr>
          <p:nvPr/>
        </p:nvSpPr>
        <p:spPr>
          <a:xfrm xmlns:a="http://schemas.openxmlformats.org/drawingml/2006/main">
            <a:off x="6858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67561"/>
                </a:solidFill>
                <a:latin typeface="DM Sans"/>
                <a:ea typeface="DM Sans"/>
                <a:cs typeface="DM Sans"/>
              </a:defRPr>
            </a:pPr>
            <a:r>
              <a:rPr sz="1200" b="0">
                <a:solidFill>
                  <a:srgbClr val="667561"/>
                </a:solidFill>
                <a:latin typeface="DM Sans"/>
                <a:ea typeface="DM Sans"/>
                <a:cs typeface="DM Sans"/>
              </a:rPr>
              <a:t>Kavu    04</a:t>
            </a:r>
          </a:p>
        </p:txBody>
      </p:sp>
    </p:spTree>
    <p:extLst>
      <p:ext uri="{BB962C8B-B14F-4D97-AF65-F5344CB8AC3E}">
        <p14:creationId xmlns:p14="http://schemas.microsoft.com/office/powerpoint/2010/main" val="908835561"/>
      </p:ext>
    </p:extLst>
  </p:cSld>
</p:sld>
</file>

<file path=ppt/slides/slide5.xml><?xml version="1.0" encoding="utf-8"?>
<p:sld xmlns:p="http://schemas.openxmlformats.org/presentationml/2006/main">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11" name="Private accounts and cloud records">
            <a:extLst xmlns:a="http://schemas.openxmlformats.org/drawingml/2006/main">
              <a:ext uri="{FF2B5EF4-FFF2-40B4-BE49-F238E27FC236}">
                <a16:creationId xmlns:a16="http://schemas.microsoft.com/office/drawing/2014/main" id="{2466E6B7-928E-42FE-851A-3223CFDCDAE6}"/>
              </a:ext>
            </a:extLst>
          </p:cNvPr>
          <p:cNvSpPr>
            <a:spLocks xmlns:a="http://schemas.openxmlformats.org/drawingml/2006/main" noGrp="1"/>
          </p:cNvSpPr>
          <p:nvPr/>
        </p:nvSpPr>
        <p:spPr>
          <a:xfrm xmlns:a="http://schemas.openxmlformats.org/drawingml/2006/main">
            <a:off x="685800" y="5143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244D37"/>
                </a:solidFill>
                <a:latin typeface="Manrope"/>
                <a:ea typeface="Manrope"/>
                <a:cs typeface="Manrope"/>
              </a:defRPr>
            </a:pPr>
            <a:r>
              <a:rPr sz="3600" b="1">
                <a:solidFill>
                  <a:srgbClr val="244D37"/>
                </a:solidFill>
                <a:latin typeface="Manrope"/>
                <a:ea typeface="Manrope"/>
                <a:cs typeface="Manrope"/>
              </a:rPr>
              <a:t>Private accounts and cloud records</a:t>
            </a:r>
          </a:p>
        </p:txBody>
      </p:sp>
      <p:sp>
        <p:nvSpPr>
          <p:cNvPr id="2" name="Hosted application">
            <a:extLst xmlns:a="http://schemas.openxmlformats.org/drawingml/2006/main">
              <a:ext uri="{FF2B5EF4-FFF2-40B4-BE49-F238E27FC236}">
                <a16:creationId xmlns:a16="http://schemas.microsoft.com/office/drawing/2014/main" id="{22D8F6D8-F084-4465-AD43-357DDD45A7F9}"/>
              </a:ext>
            </a:extLst>
          </p:cNvPr>
          <p:cNvSpPr>
            <a:spLocks xmlns:a="http://schemas.openxmlformats.org/drawingml/2006/main" noGrp="1"/>
          </p:cNvSpPr>
          <p:nvPr/>
        </p:nvSpPr>
        <p:spPr>
          <a:xfrm xmlns:a="http://schemas.openxmlformats.org/drawingml/2006/main">
            <a:off x="704850" y="1971675"/>
            <a:ext cx="657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244D37"/>
                </a:solidFill>
                <a:latin typeface="Manrope"/>
                <a:ea typeface="Manrope"/>
                <a:cs typeface="Manrope"/>
              </a:defRPr>
            </a:pPr>
            <a:r>
              <a:rPr sz="2700" b="1">
                <a:solidFill>
                  <a:srgbClr val="244D37"/>
                </a:solidFill>
                <a:latin typeface="Manrope"/>
                <a:ea typeface="Manrope"/>
                <a:cs typeface="Manrope"/>
              </a:rPr>
              <a:t>Hosted application</a:t>
            </a:r>
          </a:p>
        </p:txBody>
      </p:sp>
      <p:sp>
        <p:nvSpPr>
          <p:cNvPr id="3" name="Firebase Hosting">
            <a:extLst xmlns:a="http://schemas.openxmlformats.org/drawingml/2006/main">
              <a:ext uri="{FF2B5EF4-FFF2-40B4-BE49-F238E27FC236}">
                <a16:creationId xmlns:a16="http://schemas.microsoft.com/office/drawing/2014/main" id="{5E856032-82D7-4634-AA94-7DB9D592BC2A}"/>
              </a:ext>
            </a:extLst>
          </p:cNvPr>
          <p:cNvSpPr>
            <a:spLocks xmlns:a="http://schemas.openxmlformats.org/drawingml/2006/main" noGrp="1"/>
          </p:cNvSpPr>
          <p:nvPr/>
        </p:nvSpPr>
        <p:spPr>
          <a:xfrm xmlns:a="http://schemas.openxmlformats.org/drawingml/2006/main">
            <a:off x="742950" y="2800350"/>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244D37"/>
                </a:solidFill>
                <a:latin typeface="DM Sans"/>
                <a:ea typeface="DM Sans"/>
                <a:cs typeface="DM Sans"/>
              </a:defRPr>
            </a:pPr>
            <a:r>
              <a:rPr sz="2325" b="1">
                <a:solidFill>
                  <a:srgbClr val="244D37"/>
                </a:solidFill>
                <a:latin typeface="DM Sans"/>
                <a:ea typeface="DM Sans"/>
                <a:cs typeface="DM Sans"/>
              </a:rPr>
              <a:t>Firebase Hosting</a:t>
            </a:r>
          </a:p>
        </p:txBody>
      </p:sp>
      <p:sp>
        <p:nvSpPr>
          <p:cNvPr id="4" name="React and TypeScript interface">
            <a:extLst xmlns:a="http://schemas.openxmlformats.org/drawingml/2006/main">
              <a:ext uri="{FF2B5EF4-FFF2-40B4-BE49-F238E27FC236}">
                <a16:creationId xmlns:a16="http://schemas.microsoft.com/office/drawing/2014/main" id="{C7DC88A0-85B0-4488-826B-30D311E51404}"/>
              </a:ext>
            </a:extLst>
          </p:cNvPr>
          <p:cNvSpPr>
            <a:spLocks xmlns:a="http://schemas.openxmlformats.org/drawingml/2006/main" noGrp="1"/>
          </p:cNvSpPr>
          <p:nvPr/>
        </p:nvSpPr>
        <p:spPr>
          <a:xfrm xmlns:a="http://schemas.openxmlformats.org/drawingml/2006/main">
            <a:off x="742950" y="3286125"/>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667561"/>
                </a:solidFill>
                <a:latin typeface="DM Sans"/>
                <a:ea typeface="DM Sans"/>
                <a:cs typeface="DM Sans"/>
              </a:defRPr>
            </a:pPr>
            <a:r>
              <a:rPr sz="1950" b="0">
                <a:solidFill>
                  <a:srgbClr val="667561"/>
                </a:solidFill>
                <a:latin typeface="DM Sans"/>
                <a:ea typeface="DM Sans"/>
                <a:cs typeface="DM Sans"/>
              </a:rPr>
              <a:t>React and TypeScript interface</a:t>
            </a:r>
          </a:p>
        </p:txBody>
      </p:sp>
      <p:sp>
        <p:nvSpPr>
          <p:cNvPr id="5" name="Cloud Run API with Firestore">
            <a:extLst xmlns:a="http://schemas.openxmlformats.org/drawingml/2006/main">
              <a:ext uri="{FF2B5EF4-FFF2-40B4-BE49-F238E27FC236}">
                <a16:creationId xmlns:a16="http://schemas.microsoft.com/office/drawing/2014/main" id="{325C8102-5300-4874-BB55-D9E95C50D4EB}"/>
              </a:ext>
            </a:extLst>
          </p:cNvPr>
          <p:cNvSpPr>
            <a:spLocks xmlns:a="http://schemas.openxmlformats.org/drawingml/2006/main" noGrp="1"/>
          </p:cNvSpPr>
          <p:nvPr/>
        </p:nvSpPr>
        <p:spPr>
          <a:xfrm xmlns:a="http://schemas.openxmlformats.org/drawingml/2006/main">
            <a:off x="742950" y="4057650"/>
            <a:ext cx="609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244D37"/>
                </a:solidFill>
                <a:latin typeface="DM Sans"/>
                <a:ea typeface="DM Sans"/>
                <a:cs typeface="DM Sans"/>
              </a:defRPr>
            </a:pPr>
            <a:r>
              <a:rPr sz="2325" b="1">
                <a:solidFill>
                  <a:srgbClr val="244D37"/>
                </a:solidFill>
                <a:latin typeface="DM Sans"/>
                <a:ea typeface="DM Sans"/>
                <a:cs typeface="DM Sans"/>
              </a:rPr>
              <a:t>Cloud Run API with Firestore</a:t>
            </a:r>
          </a:p>
        </p:txBody>
      </p:sp>
      <p:sp>
        <p:nvSpPr>
          <p:cNvPr id="6" name="Private accounts and persistent lot records">
            <a:extLst xmlns:a="http://schemas.openxmlformats.org/drawingml/2006/main">
              <a:ext uri="{FF2B5EF4-FFF2-40B4-BE49-F238E27FC236}">
                <a16:creationId xmlns:a16="http://schemas.microsoft.com/office/drawing/2014/main" id="{B7B1A7BC-71B8-4122-B7EF-28AAD28D966C}"/>
              </a:ext>
            </a:extLst>
          </p:cNvPr>
          <p:cNvSpPr>
            <a:spLocks xmlns:a="http://schemas.openxmlformats.org/drawingml/2006/main" noGrp="1"/>
          </p:cNvSpPr>
          <p:nvPr/>
        </p:nvSpPr>
        <p:spPr>
          <a:xfrm xmlns:a="http://schemas.openxmlformats.org/drawingml/2006/main">
            <a:off x="742950" y="4562475"/>
            <a:ext cx="600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667561"/>
                </a:solidFill>
                <a:latin typeface="DM Sans"/>
                <a:ea typeface="DM Sans"/>
                <a:cs typeface="DM Sans"/>
              </a:defRPr>
            </a:pPr>
            <a:r>
              <a:rPr sz="1950" b="0">
                <a:solidFill>
                  <a:srgbClr val="667561"/>
                </a:solidFill>
                <a:latin typeface="DM Sans"/>
                <a:ea typeface="DM Sans"/>
                <a:cs typeface="DM Sans"/>
              </a:rPr>
              <a:t>Private accounts and persistent lot records</a:t>
            </a:r>
          </a:p>
        </p:txBody>
      </p:sp>
      <p:sp>
        <p:nvSpPr>
          <p:cNvPr id="7" name="Self-hosting">
            <a:extLst xmlns:a="http://schemas.openxmlformats.org/drawingml/2006/main">
              <a:ext uri="{FF2B5EF4-FFF2-40B4-BE49-F238E27FC236}">
                <a16:creationId xmlns:a16="http://schemas.microsoft.com/office/drawing/2014/main" id="{2D915213-E162-4052-BD69-4C2084AD6018}"/>
              </a:ext>
            </a:extLst>
          </p:cNvPr>
          <p:cNvSpPr>
            <a:spLocks xmlns:a="http://schemas.openxmlformats.org/drawingml/2006/main" noGrp="1"/>
          </p:cNvSpPr>
          <p:nvPr/>
        </p:nvSpPr>
        <p:spPr>
          <a:xfrm xmlns:a="http://schemas.openxmlformats.org/drawingml/2006/main">
            <a:off x="7943850" y="200977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244D37"/>
                </a:solidFill>
                <a:latin typeface="Manrope"/>
                <a:ea typeface="Manrope"/>
                <a:cs typeface="Manrope"/>
              </a:defRPr>
            </a:pPr>
            <a:r>
              <a:rPr sz="2550" b="1">
                <a:solidFill>
                  <a:srgbClr val="244D37"/>
                </a:solidFill>
                <a:latin typeface="Manrope"/>
                <a:ea typeface="Manrope"/>
                <a:cs typeface="Manrope"/>
              </a:rPr>
              <a:t>Self-hosting</a:t>
            </a:r>
          </a:p>
        </p:txBody>
      </p:sp>
      <p:sp>
        <p:nvSpPr>
          <p:cNvPr id="8" name="Express and SQLite&#10;Docker deployment&#10;Shared d">
            <a:extLst xmlns:a="http://schemas.openxmlformats.org/drawingml/2006/main">
              <a:ext uri="{FF2B5EF4-FFF2-40B4-BE49-F238E27FC236}">
                <a16:creationId xmlns:a16="http://schemas.microsoft.com/office/drawing/2014/main" id="{CA735001-68A7-4A95-9392-1EABF3A0A911}"/>
              </a:ext>
            </a:extLst>
          </p:cNvPr>
          <p:cNvSpPr>
            <a:spLocks xmlns:a="http://schemas.openxmlformats.org/drawingml/2006/main" noGrp="1"/>
          </p:cNvSpPr>
          <p:nvPr/>
        </p:nvSpPr>
        <p:spPr>
          <a:xfrm xmlns:a="http://schemas.openxmlformats.org/drawingml/2006/main">
            <a:off x="7981950" y="2952750"/>
            <a:ext cx="337185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667561"/>
                </a:solidFill>
                <a:latin typeface="DM Sans"/>
                <a:ea typeface="DM Sans"/>
                <a:cs typeface="DM Sans"/>
              </a:defRPr>
            </a:pPr>
            <a:r>
              <a:rPr sz="2175" b="0">
                <a:solidFill>
                  <a:srgbClr val="667561"/>
                </a:solidFill>
                <a:latin typeface="DM Sans"/>
                <a:ea typeface="DM Sans"/>
                <a:cs typeface="DM Sans"/>
              </a:rPr>
              <a:t>Express and SQLite</a:t>
            </a:r>
          </a:p>
          <a:p xmlns:a="http://schemas.openxmlformats.org/drawingml/2006/main">
            <a:pPr>
              <a:defRPr sz="2175" b="0">
                <a:solidFill>
                  <a:srgbClr val="667561"/>
                </a:solidFill>
                <a:latin typeface="DM Sans"/>
                <a:ea typeface="DM Sans"/>
                <a:cs typeface="DM Sans"/>
              </a:defRPr>
            </a:pPr>
            <a:r>
              <a:rPr sz="2175" b="0">
                <a:solidFill>
                  <a:srgbClr val="667561"/>
                </a:solidFill>
                <a:latin typeface="DM Sans"/>
                <a:ea typeface="DM Sans"/>
                <a:cs typeface="DM Sans"/>
              </a:rPr>
              <a:t>Docker deployment</a:t>
            </a:r>
          </a:p>
          <a:p xmlns:a="http://schemas.openxmlformats.org/drawingml/2006/main">
            <a:pPr>
              <a:defRPr sz="2175" b="0">
                <a:solidFill>
                  <a:srgbClr val="667561"/>
                </a:solidFill>
                <a:latin typeface="DM Sans"/>
                <a:ea typeface="DM Sans"/>
                <a:cs typeface="DM Sans"/>
              </a:defRPr>
            </a:pPr>
            <a:r>
              <a:rPr sz="2175" b="0">
                <a:solidFill>
                  <a:srgbClr val="667561"/>
                </a:solidFill>
                <a:latin typeface="DM Sans"/>
                <a:ea typeface="DM Sans"/>
                <a:cs typeface="DM Sans"/>
              </a:rPr>
              <a:t>Shared decision rules</a:t>
            </a:r>
          </a:p>
        </p:txBody>
      </p:sp>
      <p:sp>
        <p:nvSpPr>
          <p:cNvPr id="9" name="kavu-drying.web.app">
            <a:extLst xmlns:a="http://schemas.openxmlformats.org/drawingml/2006/main">
              <a:ext uri="{FF2B5EF4-FFF2-40B4-BE49-F238E27FC236}">
                <a16:creationId xmlns:a16="http://schemas.microsoft.com/office/drawing/2014/main" id="{14417875-1077-4304-9F3C-261A08CAF840}"/>
              </a:ext>
            </a:extLst>
          </p:cNvPr>
          <p:cNvSpPr>
            <a:spLocks xmlns:a="http://schemas.openxmlformats.org/drawingml/2006/main" noGrp="1"/>
          </p:cNvSpPr>
          <p:nvPr/>
        </p:nvSpPr>
        <p:spPr>
          <a:xfrm xmlns:a="http://schemas.openxmlformats.org/drawingml/2006/main">
            <a:off x="752475" y="57245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244D37"/>
                </a:solidFill>
                <a:latin typeface="DM Sans"/>
                <a:ea typeface="DM Sans"/>
                <a:cs typeface="DM Sans"/>
              </a:defRPr>
            </a:pPr>
            <a:r>
              <a:rPr sz="1875" b="1">
                <a:solidFill>
                  <a:srgbClr val="244D37"/>
                </a:solidFill>
                <a:latin typeface="DM Sans"/>
                <a:ea typeface="DM Sans"/>
                <a:cs typeface="DM Sans"/>
              </a:rPr>
              <a:t>kavu-drying.web.app</a:t>
            </a:r>
          </a:p>
        </p:txBody>
      </p:sp>
      <p:sp>
        <p:nvSpPr>
          <p:cNvPr id="10" name="Kavu    05">
            <a:extLst xmlns:a="http://schemas.openxmlformats.org/drawingml/2006/main">
              <a:ext uri="{FF2B5EF4-FFF2-40B4-BE49-F238E27FC236}">
                <a16:creationId xmlns:a16="http://schemas.microsoft.com/office/drawing/2014/main" id="{B1DDB554-393D-40A4-920D-710A9E82FF6F}"/>
              </a:ext>
            </a:extLst>
          </p:cNvPr>
          <p:cNvSpPr>
            <a:spLocks xmlns:a="http://schemas.openxmlformats.org/drawingml/2006/main" noGrp="1"/>
          </p:cNvSpPr>
          <p:nvPr/>
        </p:nvSpPr>
        <p:spPr>
          <a:xfrm xmlns:a="http://schemas.openxmlformats.org/drawingml/2006/main">
            <a:off x="6858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67561"/>
                </a:solidFill>
                <a:latin typeface="DM Sans"/>
                <a:ea typeface="DM Sans"/>
                <a:cs typeface="DM Sans"/>
              </a:defRPr>
            </a:pPr>
            <a:r>
              <a:rPr sz="1200" b="0">
                <a:solidFill>
                  <a:srgbClr val="667561"/>
                </a:solidFill>
                <a:latin typeface="DM Sans"/>
                <a:ea typeface="DM Sans"/>
                <a:cs typeface="DM Sans"/>
              </a:rPr>
              <a:t>Kavu    05</a:t>
            </a:r>
          </a:p>
        </p:txBody>
      </p:sp>
    </p:spTree>
    <p:extLst>
      <p:ext uri="{BB962C8B-B14F-4D97-AF65-F5344CB8AC3E}">
        <p14:creationId xmlns:p14="http://schemas.microsoft.com/office/powerpoint/2010/main" val="1877480636"/>
      </p:ext>
    </p:extLst>
  </p:cSld>
</p:sld>
</file>

<file path=ppt/slides/slide6.xml><?xml version="1.0" encoding="utf-8"?>
<p:sld xmlns:p="http://schemas.openxmlformats.org/presentationml/2006/main">
  <p:cSld>
    <p:bg>
      <p:bgPr>
        <a:solidFill xmlns:a="http://schemas.openxmlformats.org/drawingml/2006/main">
          <a:srgbClr val="D0A650"/>
        </a:solidFill>
      </p:bgPr>
    </p:bg>
    <p:spTree>
      <p:nvGrpSpPr>
        <p:cNvPr id="1" name=""/>
        <p:cNvGrpSpPr/>
        <p:nvPr/>
      </p:nvGrpSpPr>
      <p:grpSpPr>
        <a:xfrm xmlns:a="http://schemas.openxmlformats.org/drawingml/2006/main"/>
      </p:grpSpPr>
      <p:sp>
        <p:nvSpPr>
          <p:cNvPr id="7" name="The economics of one example">
            <a:extLst xmlns:a="http://schemas.openxmlformats.org/drawingml/2006/main">
              <a:ext uri="{FF2B5EF4-FFF2-40B4-BE49-F238E27FC236}">
                <a16:creationId xmlns:a16="http://schemas.microsoft.com/office/drawing/2014/main" id="{8A743F14-2E1D-4BDD-8CC3-E69F7151AA80}"/>
              </a:ext>
            </a:extLst>
          </p:cNvPr>
          <p:cNvSpPr>
            <a:spLocks xmlns:a="http://schemas.openxmlformats.org/drawingml/2006/main" noGrp="1"/>
          </p:cNvSpPr>
          <p:nvPr/>
        </p:nvSpPr>
        <p:spPr>
          <a:xfrm xmlns:a="http://schemas.openxmlformats.org/drawingml/2006/main">
            <a:off x="685800" y="5143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244D37"/>
                </a:solidFill>
                <a:latin typeface="Manrope"/>
                <a:ea typeface="Manrope"/>
                <a:cs typeface="Manrope"/>
              </a:defRPr>
            </a:pPr>
            <a:r>
              <a:rPr sz="3600" b="1">
                <a:solidFill>
                  <a:srgbClr val="244D37"/>
                </a:solidFill>
                <a:latin typeface="Manrope"/>
                <a:ea typeface="Manrope"/>
                <a:cs typeface="Manrope"/>
              </a:rPr>
              <a:t>The economics of one example</a:t>
            </a:r>
          </a:p>
        </p:txBody>
      </p:sp>
      <p:sp>
        <p:nvSpPr>
          <p:cNvPr id="2" name="KSh 2,176">
            <a:extLst xmlns:a="http://schemas.openxmlformats.org/drawingml/2006/main">
              <a:ext uri="{FF2B5EF4-FFF2-40B4-BE49-F238E27FC236}">
                <a16:creationId xmlns:a16="http://schemas.microsoft.com/office/drawing/2014/main" id="{39675DE7-D0CD-4149-86AB-BD00F30A8EE6}"/>
              </a:ext>
            </a:extLst>
          </p:cNvPr>
          <p:cNvSpPr>
            <a:spLocks xmlns:a="http://schemas.openxmlformats.org/drawingml/2006/main" noGrp="1"/>
          </p:cNvSpPr>
          <p:nvPr/>
        </p:nvSpPr>
        <p:spPr>
          <a:xfrm xmlns:a="http://schemas.openxmlformats.org/drawingml/2006/main">
            <a:off x="685800" y="1809750"/>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875" b="1">
                <a:solidFill>
                  <a:srgbClr val="244D37"/>
                </a:solidFill>
                <a:latin typeface="Manrope"/>
                <a:ea typeface="Manrope"/>
                <a:cs typeface="Manrope"/>
              </a:defRPr>
            </a:pPr>
            <a:r>
              <a:rPr sz="7875" b="1">
                <a:solidFill>
                  <a:srgbClr val="244D37"/>
                </a:solidFill>
                <a:latin typeface="Manrope"/>
                <a:ea typeface="Manrope"/>
                <a:cs typeface="Manrope"/>
              </a:rPr>
              <a:t>KSh 2,176</a:t>
            </a:r>
          </a:p>
        </p:txBody>
      </p:sp>
      <p:sp>
        <p:nvSpPr>
          <p:cNvPr id="3" name="Drying-tariff equivalent">
            <a:extLst xmlns:a="http://schemas.openxmlformats.org/drawingml/2006/main">
              <a:ext uri="{FF2B5EF4-FFF2-40B4-BE49-F238E27FC236}">
                <a16:creationId xmlns:a16="http://schemas.microsoft.com/office/drawing/2014/main" id="{DAEE4330-6A7E-4A49-8B5B-F293118B3E0E}"/>
              </a:ext>
            </a:extLst>
          </p:cNvPr>
          <p:cNvSpPr>
            <a:spLocks xmlns:a="http://schemas.openxmlformats.org/drawingml/2006/main" noGrp="1"/>
          </p:cNvSpPr>
          <p:nvPr/>
        </p:nvSpPr>
        <p:spPr>
          <a:xfrm xmlns:a="http://schemas.openxmlformats.org/drawingml/2006/main">
            <a:off x="762000" y="32575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44D37"/>
                </a:solidFill>
                <a:latin typeface="DM Sans"/>
                <a:ea typeface="DM Sans"/>
                <a:cs typeface="DM Sans"/>
              </a:defRPr>
            </a:pPr>
            <a:r>
              <a:rPr sz="3000" b="1">
                <a:solidFill>
                  <a:srgbClr val="244D37"/>
                </a:solidFill>
                <a:latin typeface="DM Sans"/>
                <a:ea typeface="DM Sans"/>
                <a:cs typeface="DM Sans"/>
              </a:rPr>
              <a:t>Drying-tariff equivalent</a:t>
            </a:r>
          </a:p>
        </p:txBody>
      </p:sp>
      <p:sp>
        <p:nvSpPr>
          <p:cNvPr id="4" name="1.8 tonnes × 3.2 percentage points × KSh 377.">
            <a:extLst xmlns:a="http://schemas.openxmlformats.org/drawingml/2006/main">
              <a:ext uri="{FF2B5EF4-FFF2-40B4-BE49-F238E27FC236}">
                <a16:creationId xmlns:a16="http://schemas.microsoft.com/office/drawing/2014/main" id="{8404FE7E-8098-4F9D-8EB6-877B3A16C8E2}"/>
              </a:ext>
            </a:extLst>
          </p:cNvPr>
          <p:cNvSpPr>
            <a:spLocks xmlns:a="http://schemas.openxmlformats.org/drawingml/2006/main" noGrp="1"/>
          </p:cNvSpPr>
          <p:nvPr/>
        </p:nvSpPr>
        <p:spPr>
          <a:xfrm xmlns:a="http://schemas.openxmlformats.org/drawingml/2006/main">
            <a:off x="762000" y="423862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244D37"/>
                </a:solidFill>
                <a:latin typeface="DM Sans"/>
                <a:ea typeface="DM Sans"/>
                <a:cs typeface="DM Sans"/>
              </a:defRPr>
            </a:pPr>
            <a:r>
              <a:rPr sz="2325" b="0">
                <a:solidFill>
                  <a:srgbClr val="244D37"/>
                </a:solidFill>
                <a:latin typeface="DM Sans"/>
                <a:ea typeface="DM Sans"/>
                <a:cs typeface="DM Sans"/>
              </a:rPr>
              <a:t>1.8 tonnes × 3.2 percentage points × KSh 377.80</a:t>
            </a:r>
          </a:p>
        </p:txBody>
      </p:sp>
      <p:sp>
        <p:nvSpPr>
          <p:cNvPr id="5" name="Mavuno A-01 example: 18.2% to 15.0%&#10;Actual sa">
            <a:extLst xmlns:a="http://schemas.openxmlformats.org/drawingml/2006/main">
              <a:ext uri="{FF2B5EF4-FFF2-40B4-BE49-F238E27FC236}">
                <a16:creationId xmlns:a16="http://schemas.microsoft.com/office/drawing/2014/main" id="{33EA65AA-39E7-4BD7-9095-41E6130B8238}"/>
              </a:ext>
            </a:extLst>
          </p:cNvPr>
          <p:cNvSpPr>
            <a:spLocks xmlns:a="http://schemas.openxmlformats.org/drawingml/2006/main" noGrp="1"/>
          </p:cNvSpPr>
          <p:nvPr/>
        </p:nvSpPr>
        <p:spPr>
          <a:xfrm xmlns:a="http://schemas.openxmlformats.org/drawingml/2006/main">
            <a:off x="781050" y="5172075"/>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6392D"/>
                </a:solidFill>
                <a:latin typeface="DM Sans"/>
                <a:ea typeface="DM Sans"/>
                <a:cs typeface="DM Sans"/>
              </a:defRPr>
            </a:pPr>
            <a:r>
              <a:rPr sz="2025" b="0">
                <a:solidFill>
                  <a:srgbClr val="26392D"/>
                </a:solidFill>
                <a:latin typeface="DM Sans"/>
                <a:ea typeface="DM Sans"/>
                <a:cs typeface="DM Sans"/>
              </a:rPr>
              <a:t>Mavuno A-01 example: 18.2% to 15.0%</a:t>
            </a:r>
          </a:p>
          <a:p xmlns:a="http://schemas.openxmlformats.org/drawingml/2006/main">
            <a:pPr>
              <a:defRPr sz="2025" b="0">
                <a:solidFill>
                  <a:srgbClr val="26392D"/>
                </a:solidFill>
                <a:latin typeface="DM Sans"/>
                <a:ea typeface="DM Sans"/>
                <a:cs typeface="DM Sans"/>
              </a:defRPr>
            </a:pPr>
            <a:r>
              <a:rPr sz="2025" b="0">
                <a:solidFill>
                  <a:srgbClr val="26392D"/>
                </a:solidFill>
                <a:latin typeface="DM Sans"/>
                <a:ea typeface="DM Sans"/>
                <a:cs typeface="DM Sans"/>
              </a:rPr>
              <a:t>Actual savings need labour, transport and alternative cost records.</a:t>
            </a:r>
          </a:p>
        </p:txBody>
      </p:sp>
      <p:sp>
        <p:nvSpPr>
          <p:cNvPr id="6" name="Kavu    06">
            <a:extLst xmlns:a="http://schemas.openxmlformats.org/drawingml/2006/main">
              <a:ext uri="{FF2B5EF4-FFF2-40B4-BE49-F238E27FC236}">
                <a16:creationId xmlns:a16="http://schemas.microsoft.com/office/drawing/2014/main" id="{52CA0579-7A1D-42D5-A5CC-075E507592B2}"/>
              </a:ext>
            </a:extLst>
          </p:cNvPr>
          <p:cNvSpPr>
            <a:spLocks xmlns:a="http://schemas.openxmlformats.org/drawingml/2006/main" noGrp="1"/>
          </p:cNvSpPr>
          <p:nvPr/>
        </p:nvSpPr>
        <p:spPr>
          <a:xfrm xmlns:a="http://schemas.openxmlformats.org/drawingml/2006/main">
            <a:off x="6858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67561"/>
                </a:solidFill>
                <a:latin typeface="DM Sans"/>
                <a:ea typeface="DM Sans"/>
                <a:cs typeface="DM Sans"/>
              </a:defRPr>
            </a:pPr>
            <a:r>
              <a:rPr sz="1200" b="0">
                <a:solidFill>
                  <a:srgbClr val="667561"/>
                </a:solidFill>
                <a:latin typeface="DM Sans"/>
                <a:ea typeface="DM Sans"/>
                <a:cs typeface="DM Sans"/>
              </a:rPr>
              <a:t>Kavu    06</a:t>
            </a:r>
          </a:p>
        </p:txBody>
      </p:sp>
    </p:spTree>
    <p:extLst>
      <p:ext uri="{BB962C8B-B14F-4D97-AF65-F5344CB8AC3E}">
        <p14:creationId xmlns:p14="http://schemas.microsoft.com/office/powerpoint/2010/main" val="884613594"/>
      </p:ext>
    </p:extLst>
  </p:cSld>
</p:sld>
</file>

<file path=ppt/slides/slide7.xml><?xml version="1.0" encoding="utf-8"?>
<p:sld xmlns:p="http://schemas.openxmlformats.org/presentationml/2006/main">
  <p:cSld>
    <p:bg>
      <p:bgPr>
        <a:solidFill xmlns:a="http://schemas.openxmlformats.org/drawingml/2006/main">
          <a:srgbClr val="F8F9F5"/>
        </a:solidFill>
      </p:bgPr>
    </p:bg>
    <p:spTree>
      <p:nvGrpSpPr>
        <p:cNvPr id="1" name=""/>
        <p:cNvGrpSpPr/>
        <p:nvPr/>
      </p:nvGrpSpPr>
      <p:grpSpPr>
        <a:xfrm xmlns:a="http://schemas.openxmlformats.org/drawingml/2006/main"/>
      </p:grpSpPr>
      <p:sp>
        <p:nvSpPr>
          <p:cNvPr id="9" name="A co-op buyer, a price to test">
            <a:extLst xmlns:a="http://schemas.openxmlformats.org/drawingml/2006/main">
              <a:ext uri="{FF2B5EF4-FFF2-40B4-BE49-F238E27FC236}">
                <a16:creationId xmlns:a16="http://schemas.microsoft.com/office/drawing/2014/main" id="{EA8A6837-2DA2-49BE-806E-00405AD425DB}"/>
              </a:ext>
            </a:extLst>
          </p:cNvPr>
          <p:cNvSpPr>
            <a:spLocks xmlns:a="http://schemas.openxmlformats.org/drawingml/2006/main" noGrp="1"/>
          </p:cNvSpPr>
          <p:nvPr/>
        </p:nvSpPr>
        <p:spPr>
          <a:xfrm xmlns:a="http://schemas.openxmlformats.org/drawingml/2006/main">
            <a:off x="685800" y="5143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244D37"/>
                </a:solidFill>
                <a:latin typeface="Manrope"/>
                <a:ea typeface="Manrope"/>
                <a:cs typeface="Manrope"/>
              </a:defRPr>
            </a:pPr>
            <a:r>
              <a:rPr sz="3600" b="1">
                <a:solidFill>
                  <a:srgbClr val="244D37"/>
                </a:solidFill>
                <a:latin typeface="Manrope"/>
                <a:ea typeface="Manrope"/>
                <a:cs typeface="Manrope"/>
              </a:rPr>
              <a:t>A co-op buyer, a price to test</a:t>
            </a:r>
          </a:p>
        </p:txBody>
      </p:sp>
      <p:sp>
        <p:nvSpPr>
          <p:cNvPr id="2" name="One supervisor.&#10;Many farmers’ lots.">
            <a:extLst xmlns:a="http://schemas.openxmlformats.org/drawingml/2006/main">
              <a:ext uri="{FF2B5EF4-FFF2-40B4-BE49-F238E27FC236}">
                <a16:creationId xmlns:a16="http://schemas.microsoft.com/office/drawing/2014/main" id="{A147AFC3-6394-47A5-8862-BCC155C7B8EF}"/>
              </a:ext>
            </a:extLst>
          </p:cNvPr>
          <p:cNvSpPr>
            <a:spLocks xmlns:a="http://schemas.openxmlformats.org/drawingml/2006/main" noGrp="1"/>
          </p:cNvSpPr>
          <p:nvPr/>
        </p:nvSpPr>
        <p:spPr>
          <a:xfrm xmlns:a="http://schemas.openxmlformats.org/drawingml/2006/main">
            <a:off x="685800" y="1971675"/>
            <a:ext cx="5334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1">
                <a:solidFill>
                  <a:srgbClr val="244D37"/>
                </a:solidFill>
                <a:latin typeface="Manrope"/>
                <a:ea typeface="Manrope"/>
                <a:cs typeface="Manrope"/>
              </a:defRPr>
            </a:pPr>
            <a:r>
              <a:rPr sz="3750" b="1">
                <a:solidFill>
                  <a:srgbClr val="244D37"/>
                </a:solidFill>
                <a:latin typeface="Manrope"/>
                <a:ea typeface="Manrope"/>
                <a:cs typeface="Manrope"/>
              </a:rPr>
              <a:t>One supervisor.</a:t>
            </a:r>
          </a:p>
          <a:p xmlns:a="http://schemas.openxmlformats.org/drawingml/2006/main">
            <a:pPr>
              <a:defRPr sz="3750" b="1">
                <a:solidFill>
                  <a:srgbClr val="244D37"/>
                </a:solidFill>
                <a:latin typeface="Manrope"/>
                <a:ea typeface="Manrope"/>
                <a:cs typeface="Manrope"/>
              </a:defRPr>
            </a:pPr>
            <a:r>
              <a:rPr sz="3750" b="1">
                <a:solidFill>
                  <a:srgbClr val="244D37"/>
                </a:solidFill>
                <a:latin typeface="Manrope"/>
                <a:ea typeface="Manrope"/>
                <a:cs typeface="Manrope"/>
              </a:rPr>
              <a:t>Many farmers’ lots.</a:t>
            </a:r>
          </a:p>
        </p:txBody>
      </p:sp>
      <p:sp>
        <p:nvSpPr>
          <p:cNvPr id="3" name="The daily alternative is a weather&#10;report and">
            <a:extLst xmlns:a="http://schemas.openxmlformats.org/drawingml/2006/main">
              <a:ext uri="{FF2B5EF4-FFF2-40B4-BE49-F238E27FC236}">
                <a16:creationId xmlns:a16="http://schemas.microsoft.com/office/drawing/2014/main" id="{1A4988E3-8946-4FC4-A6C0-8CEC69127B93}"/>
              </a:ext>
            </a:extLst>
          </p:cNvPr>
          <p:cNvSpPr>
            <a:spLocks xmlns:a="http://schemas.openxmlformats.org/drawingml/2006/main" noGrp="1"/>
          </p:cNvSpPr>
          <p:nvPr/>
        </p:nvSpPr>
        <p:spPr>
          <a:xfrm xmlns:a="http://schemas.openxmlformats.org/drawingml/2006/main">
            <a:off x="723900" y="3790950"/>
            <a:ext cx="52578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667561"/>
                </a:solidFill>
                <a:latin typeface="DM Sans"/>
                <a:ea typeface="DM Sans"/>
                <a:cs typeface="DM Sans"/>
              </a:defRPr>
            </a:pPr>
            <a:r>
              <a:rPr sz="2175" b="0">
                <a:solidFill>
                  <a:srgbClr val="667561"/>
                </a:solidFill>
                <a:latin typeface="DM Sans"/>
                <a:ea typeface="DM Sans"/>
                <a:cs typeface="DM Sans"/>
              </a:rPr>
              <a:t>The daily alternative is a weather</a:t>
            </a:r>
          </a:p>
          <a:p xmlns:a="http://schemas.openxmlformats.org/drawingml/2006/main">
            <a:pPr>
              <a:defRPr sz="2175" b="0">
                <a:solidFill>
                  <a:srgbClr val="667561"/>
                </a:solidFill>
                <a:latin typeface="DM Sans"/>
                <a:ea typeface="DM Sans"/>
                <a:cs typeface="DM Sans"/>
              </a:defRPr>
            </a:pPr>
            <a:r>
              <a:rPr sz="2175" b="0">
                <a:solidFill>
                  <a:srgbClr val="667561"/>
                </a:solidFill>
                <a:latin typeface="DM Sans"/>
                <a:ea typeface="DM Sans"/>
                <a:cs typeface="DM Sans"/>
              </a:rPr>
              <a:t>report and a notebook. Renewal</a:t>
            </a:r>
          </a:p>
          <a:p xmlns:a="http://schemas.openxmlformats.org/drawingml/2006/main">
            <a:pPr>
              <a:defRPr sz="2175" b="0">
                <a:solidFill>
                  <a:srgbClr val="667561"/>
                </a:solidFill>
                <a:latin typeface="DM Sans"/>
                <a:ea typeface="DM Sans"/>
                <a:cs typeface="DM Sans"/>
              </a:defRPr>
            </a:pPr>
            <a:r>
              <a:rPr sz="2175" b="0">
                <a:solidFill>
                  <a:srgbClr val="667561"/>
                </a:solidFill>
                <a:latin typeface="DM Sans"/>
                <a:ea typeface="DM Sans"/>
                <a:cs typeface="DM Sans"/>
              </a:rPr>
              <a:t>depends on easier handovers.</a:t>
            </a:r>
          </a:p>
        </p:txBody>
      </p:sp>
      <p:sp>
        <p:nvSpPr>
          <p:cNvPr id="4" name="KSh 2,500">
            <a:extLst xmlns:a="http://schemas.openxmlformats.org/drawingml/2006/main">
              <a:ext uri="{FF2B5EF4-FFF2-40B4-BE49-F238E27FC236}">
                <a16:creationId xmlns:a16="http://schemas.microsoft.com/office/drawing/2014/main" id="{37403918-60D7-4CCB-BF35-299066B0A487}"/>
              </a:ext>
            </a:extLst>
          </p:cNvPr>
          <p:cNvSpPr>
            <a:spLocks xmlns:a="http://schemas.openxmlformats.org/drawingml/2006/main" noGrp="1"/>
          </p:cNvSpPr>
          <p:nvPr/>
        </p:nvSpPr>
        <p:spPr>
          <a:xfrm xmlns:a="http://schemas.openxmlformats.org/drawingml/2006/main">
            <a:off x="7200900" y="2114550"/>
            <a:ext cx="43624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950" b="1">
                <a:solidFill>
                  <a:srgbClr val="244D37"/>
                </a:solidFill>
                <a:latin typeface="Manrope"/>
                <a:ea typeface="Manrope"/>
                <a:cs typeface="Manrope"/>
              </a:defRPr>
            </a:pPr>
            <a:r>
              <a:rPr sz="4950" b="1">
                <a:solidFill>
                  <a:srgbClr val="244D37"/>
                </a:solidFill>
                <a:latin typeface="Manrope"/>
                <a:ea typeface="Manrope"/>
                <a:cs typeface="Manrope"/>
              </a:rPr>
              <a:t>KSh 2,500</a:t>
            </a:r>
          </a:p>
        </p:txBody>
      </p:sp>
      <p:sp>
        <p:nvSpPr>
          <p:cNvPr id="5" name="per active month per site">
            <a:extLst xmlns:a="http://schemas.openxmlformats.org/drawingml/2006/main">
              <a:ext uri="{FF2B5EF4-FFF2-40B4-BE49-F238E27FC236}">
                <a16:creationId xmlns:a16="http://schemas.microsoft.com/office/drawing/2014/main" id="{BCC905D1-F798-4ABA-B17B-B0B6453E1FCE}"/>
              </a:ext>
            </a:extLst>
          </p:cNvPr>
          <p:cNvSpPr>
            <a:spLocks xmlns:a="http://schemas.openxmlformats.org/drawingml/2006/main" noGrp="1"/>
          </p:cNvSpPr>
          <p:nvPr/>
        </p:nvSpPr>
        <p:spPr>
          <a:xfrm xmlns:a="http://schemas.openxmlformats.org/drawingml/2006/main">
            <a:off x="7239000" y="3048000"/>
            <a:ext cx="4267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667561"/>
                </a:solidFill>
                <a:latin typeface="DM Sans"/>
                <a:ea typeface="DM Sans"/>
                <a:cs typeface="DM Sans"/>
              </a:defRPr>
            </a:pPr>
            <a:r>
              <a:rPr sz="1950" b="0">
                <a:solidFill>
                  <a:srgbClr val="667561"/>
                </a:solidFill>
                <a:latin typeface="DM Sans"/>
                <a:ea typeface="DM Sans"/>
                <a:cs typeface="DM Sans"/>
              </a:rPr>
              <a:t>per active month per site</a:t>
            </a:r>
          </a:p>
        </p:txBody>
      </p:sp>
      <p:sp>
        <p:nvSpPr>
          <p:cNvPr id="6" name="Price to test in a pilot&#10;Track support effort">
            <a:extLst xmlns:a="http://schemas.openxmlformats.org/drawingml/2006/main">
              <a:ext uri="{FF2B5EF4-FFF2-40B4-BE49-F238E27FC236}">
                <a16:creationId xmlns:a16="http://schemas.microsoft.com/office/drawing/2014/main" id="{1BC216B7-B01B-4000-AE01-71B6D8571D3E}"/>
              </a:ext>
            </a:extLst>
          </p:cNvPr>
          <p:cNvSpPr>
            <a:spLocks xmlns:a="http://schemas.openxmlformats.org/drawingml/2006/main" noGrp="1"/>
          </p:cNvSpPr>
          <p:nvPr/>
        </p:nvSpPr>
        <p:spPr>
          <a:xfrm xmlns:a="http://schemas.openxmlformats.org/drawingml/2006/main">
            <a:off x="7239000" y="4124325"/>
            <a:ext cx="42386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244D37"/>
                </a:solidFill>
                <a:latin typeface="DM Sans"/>
                <a:ea typeface="DM Sans"/>
                <a:cs typeface="DM Sans"/>
              </a:defRPr>
            </a:pPr>
            <a:r>
              <a:rPr sz="2100" b="0">
                <a:solidFill>
                  <a:srgbClr val="244D37"/>
                </a:solidFill>
                <a:latin typeface="DM Sans"/>
                <a:ea typeface="DM Sans"/>
                <a:cs typeface="DM Sans"/>
              </a:rPr>
              <a:t>Price to test in a pilot</a:t>
            </a:r>
          </a:p>
          <a:p xmlns:a="http://schemas.openxmlformats.org/drawingml/2006/main">
            <a:pPr>
              <a:defRPr sz="2100" b="0">
                <a:solidFill>
                  <a:srgbClr val="244D37"/>
                </a:solidFill>
                <a:latin typeface="DM Sans"/>
                <a:ea typeface="DM Sans"/>
                <a:cs typeface="DM Sans"/>
              </a:defRPr>
            </a:pPr>
            <a:r>
              <a:rPr sz="2100" b="0">
                <a:solidFill>
                  <a:srgbClr val="244D37"/>
                </a:solidFill>
                <a:latin typeface="DM Sans"/>
                <a:ea typeface="DM Sans"/>
                <a:cs typeface="DM Sans"/>
              </a:rPr>
              <a:t>Track support effort and renewal</a:t>
            </a:r>
          </a:p>
        </p:txBody>
      </p:sp>
      <p:sp>
        <p:nvSpPr>
          <p:cNvPr id="7" name="Start with yards that already use moisture me">
            <a:extLst xmlns:a="http://schemas.openxmlformats.org/drawingml/2006/main">
              <a:ext uri="{FF2B5EF4-FFF2-40B4-BE49-F238E27FC236}">
                <a16:creationId xmlns:a16="http://schemas.microsoft.com/office/drawing/2014/main" id="{A8373B38-84F9-4A7F-9DB9-BB986A6AB6BF}"/>
              </a:ext>
            </a:extLst>
          </p:cNvPr>
          <p:cNvSpPr>
            <a:spLocks xmlns:a="http://schemas.openxmlformats.org/drawingml/2006/main" noGrp="1"/>
          </p:cNvSpPr>
          <p:nvPr/>
        </p:nvSpPr>
        <p:spPr>
          <a:xfrm xmlns:a="http://schemas.openxmlformats.org/drawingml/2006/main">
            <a:off x="723900" y="5543550"/>
            <a:ext cx="10715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667561"/>
                </a:solidFill>
                <a:latin typeface="DM Sans"/>
                <a:ea typeface="DM Sans"/>
                <a:cs typeface="DM Sans"/>
              </a:defRPr>
            </a:pPr>
            <a:r>
              <a:rPr sz="1800" b="0">
                <a:solidFill>
                  <a:srgbClr val="667561"/>
                </a:solidFill>
                <a:latin typeface="DM Sans"/>
                <a:ea typeface="DM Sans"/>
                <a:cs typeface="DM Sans"/>
              </a:rPr>
              <a:t>Start with yards that already use moisture meters. Grow through useful lot and cost histories.</a:t>
            </a:r>
          </a:p>
        </p:txBody>
      </p:sp>
      <p:sp>
        <p:nvSpPr>
          <p:cNvPr id="8" name="Kavu    07">
            <a:extLst xmlns:a="http://schemas.openxmlformats.org/drawingml/2006/main">
              <a:ext uri="{FF2B5EF4-FFF2-40B4-BE49-F238E27FC236}">
                <a16:creationId xmlns:a16="http://schemas.microsoft.com/office/drawing/2014/main" id="{DE44526C-4CD2-4BF6-B0E1-DC2CC1668A22}"/>
              </a:ext>
            </a:extLst>
          </p:cNvPr>
          <p:cNvSpPr>
            <a:spLocks xmlns:a="http://schemas.openxmlformats.org/drawingml/2006/main" noGrp="1"/>
          </p:cNvSpPr>
          <p:nvPr/>
        </p:nvSpPr>
        <p:spPr>
          <a:xfrm xmlns:a="http://schemas.openxmlformats.org/drawingml/2006/main">
            <a:off x="6858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67561"/>
                </a:solidFill>
                <a:latin typeface="DM Sans"/>
                <a:ea typeface="DM Sans"/>
                <a:cs typeface="DM Sans"/>
              </a:defRPr>
            </a:pPr>
            <a:r>
              <a:rPr sz="1200" b="0">
                <a:solidFill>
                  <a:srgbClr val="667561"/>
                </a:solidFill>
                <a:latin typeface="DM Sans"/>
                <a:ea typeface="DM Sans"/>
                <a:cs typeface="DM Sans"/>
              </a:rPr>
              <a:t>Kavu    07</a:t>
            </a:r>
          </a:p>
        </p:txBody>
      </p:sp>
    </p:spTree>
    <p:extLst>
      <p:ext uri="{BB962C8B-B14F-4D97-AF65-F5344CB8AC3E}">
        <p14:creationId xmlns:p14="http://schemas.microsoft.com/office/powerpoint/2010/main" val="1530323712"/>
      </p:ext>
    </p:extLst>
  </p:cSld>
</p:sld>
</file>

<file path=ppt/slides/slide8.xml><?xml version="1.0" encoding="utf-8"?>
<p:sld xmlns:p="http://schemas.openxmlformats.org/presentationml/2006/main">
  <p:cSld>
    <p:bg>
      <p:bgPr>
        <a:solidFill xmlns:a="http://schemas.openxmlformats.org/drawingml/2006/main">
          <a:srgbClr val="244D37"/>
        </a:solidFill>
      </p:bgPr>
    </p:bg>
    <p:spTree>
      <p:nvGrpSpPr>
        <p:cNvPr id="1" name=""/>
        <p:cNvGrpSpPr/>
        <p:nvPr/>
      </p:nvGrpSpPr>
      <p:grpSpPr>
        <a:xfrm xmlns:a="http://schemas.openxmlformats.org/drawingml/2006/main"/>
      </p:grpSpPr>
      <p:sp>
        <p:nvSpPr>
          <p:cNvPr id="6" name="The next test is in the yard">
            <a:extLst xmlns:a="http://schemas.openxmlformats.org/drawingml/2006/main">
              <a:ext uri="{FF2B5EF4-FFF2-40B4-BE49-F238E27FC236}">
                <a16:creationId xmlns:a16="http://schemas.microsoft.com/office/drawing/2014/main" id="{79B4C285-EF72-4859-808B-9F8FDF54F7D7}"/>
              </a:ext>
            </a:extLst>
          </p:cNvPr>
          <p:cNvSpPr>
            <a:spLocks xmlns:a="http://schemas.openxmlformats.org/drawingml/2006/main" noGrp="1"/>
          </p:cNvSpPr>
          <p:nvPr/>
        </p:nvSpPr>
        <p:spPr>
          <a:xfrm xmlns:a="http://schemas.openxmlformats.org/drawingml/2006/main">
            <a:off x="685800" y="5143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F8F9F5"/>
                </a:solidFill>
                <a:latin typeface="Manrope"/>
                <a:ea typeface="Manrope"/>
                <a:cs typeface="Manrope"/>
              </a:defRPr>
            </a:pPr>
            <a:r>
              <a:rPr sz="3600" b="1">
                <a:solidFill>
                  <a:srgbClr val="F8F9F5"/>
                </a:solidFill>
                <a:latin typeface="Manrope"/>
                <a:ea typeface="Manrope"/>
                <a:cs typeface="Manrope"/>
              </a:rPr>
              <a:t>The next test is in the yard</a:t>
            </a:r>
          </a:p>
        </p:txBody>
      </p:sp>
      <p:sp>
        <p:nvSpPr>
          <p:cNvPr id="2" name="A supervised pilot&#10;with up to three yards">
            <a:extLst xmlns:a="http://schemas.openxmlformats.org/drawingml/2006/main">
              <a:ext uri="{FF2B5EF4-FFF2-40B4-BE49-F238E27FC236}">
                <a16:creationId xmlns:a16="http://schemas.microsoft.com/office/drawing/2014/main" id="{05866B87-1D09-4BC9-89DA-26B28CCA2195}"/>
              </a:ext>
            </a:extLst>
          </p:cNvPr>
          <p:cNvSpPr>
            <a:spLocks xmlns:a="http://schemas.openxmlformats.org/drawingml/2006/main" noGrp="1"/>
          </p:cNvSpPr>
          <p:nvPr/>
        </p:nvSpPr>
        <p:spPr>
          <a:xfrm xmlns:a="http://schemas.openxmlformats.org/drawingml/2006/main">
            <a:off x="704850" y="1981200"/>
            <a:ext cx="10382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425" b="1">
                <a:solidFill>
                  <a:srgbClr val="F8F9F5"/>
                </a:solidFill>
                <a:latin typeface="Manrope"/>
                <a:ea typeface="Manrope"/>
                <a:cs typeface="Manrope"/>
              </a:defRPr>
            </a:pPr>
            <a:r>
              <a:rPr sz="4425" b="1">
                <a:solidFill>
                  <a:srgbClr val="F8F9F5"/>
                </a:solidFill>
                <a:latin typeface="Manrope"/>
                <a:ea typeface="Manrope"/>
                <a:cs typeface="Manrope"/>
              </a:rPr>
              <a:t>A supervised pilot</a:t>
            </a:r>
          </a:p>
          <a:p xmlns:a="http://schemas.openxmlformats.org/drawingml/2006/main">
            <a:pPr>
              <a:defRPr sz="4425" b="1">
                <a:solidFill>
                  <a:srgbClr val="F8F9F5"/>
                </a:solidFill>
                <a:latin typeface="Manrope"/>
                <a:ea typeface="Manrope"/>
                <a:cs typeface="Manrope"/>
              </a:defRPr>
            </a:pPr>
            <a:r>
              <a:rPr sz="4425" b="1">
                <a:solidFill>
                  <a:srgbClr val="F8F9F5"/>
                </a:solidFill>
                <a:latin typeface="Manrope"/>
                <a:ea typeface="Manrope"/>
                <a:cs typeface="Manrope"/>
              </a:rPr>
              <a:t>with up to three yards</a:t>
            </a:r>
          </a:p>
        </p:txBody>
      </p:sp>
      <p:sp>
        <p:nvSpPr>
          <p:cNvPr id="3" name="Observe the operator, then run in shadow mode">
            <a:extLst xmlns:a="http://schemas.openxmlformats.org/drawingml/2006/main">
              <a:ext uri="{FF2B5EF4-FFF2-40B4-BE49-F238E27FC236}">
                <a16:creationId xmlns:a16="http://schemas.microsoft.com/office/drawing/2014/main" id="{0242BF5F-7B6B-4AF8-A0F8-ED29F09EE074}"/>
              </a:ext>
            </a:extLst>
          </p:cNvPr>
          <p:cNvSpPr>
            <a:spLocks xmlns:a="http://schemas.openxmlformats.org/drawingml/2006/main" noGrp="1"/>
          </p:cNvSpPr>
          <p:nvPr/>
        </p:nvSpPr>
        <p:spPr>
          <a:xfrm xmlns:a="http://schemas.openxmlformats.org/drawingml/2006/main">
            <a:off x="742950" y="3962400"/>
            <a:ext cx="1038225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DEE5D9"/>
                </a:solidFill>
                <a:latin typeface="DM Sans"/>
                <a:ea typeface="DM Sans"/>
                <a:cs typeface="DM Sans"/>
              </a:defRPr>
            </a:pPr>
            <a:r>
              <a:rPr sz="2250" b="0">
                <a:solidFill>
                  <a:srgbClr val="DEE5D9"/>
                </a:solidFill>
                <a:latin typeface="DM Sans"/>
                <a:ea typeface="DM Sans"/>
                <a:cs typeface="DM Sans"/>
              </a:rPr>
              <a:t>Observe the operator, then run in shadow mode.</a:t>
            </a:r>
          </a:p>
          <a:p xmlns:a="http://schemas.openxmlformats.org/drawingml/2006/main">
            <a:pPr>
              <a:defRPr sz="2250" b="0">
                <a:solidFill>
                  <a:srgbClr val="DEE5D9"/>
                </a:solidFill>
                <a:latin typeface="DM Sans"/>
                <a:ea typeface="DM Sans"/>
                <a:cs typeface="DM Sans"/>
              </a:defRPr>
            </a:pPr>
            <a:r>
              <a:rPr sz="2250" b="0">
                <a:solidFill>
                  <a:srgbClr val="DEE5D9"/>
                </a:solidFill>
                <a:latin typeface="DM Sans"/>
                <a:ea typeface="DM Sans"/>
                <a:cs typeface="DM Sans"/>
              </a:rPr>
              <a:t>Measure handovers, moisture checks and actual costs.</a:t>
            </a:r>
          </a:p>
          <a:p xmlns:a="http://schemas.openxmlformats.org/drawingml/2006/main">
            <a:pPr>
              <a:defRPr sz="2250" b="0">
                <a:solidFill>
                  <a:srgbClr val="DEE5D9"/>
                </a:solidFill>
                <a:latin typeface="DM Sans"/>
                <a:ea typeface="DM Sans"/>
                <a:cs typeface="DM Sans"/>
              </a:defRPr>
            </a:pPr>
            <a:r>
              <a:rPr sz="2250" b="0">
                <a:solidFill>
                  <a:srgbClr val="DEE5D9"/>
                </a:solidFill>
                <a:latin typeface="DM Sans"/>
                <a:ea typeface="DM Sans"/>
                <a:cs typeface="DM Sans"/>
              </a:rPr>
              <a:t>Test continued use and willingness to renew.</a:t>
            </a:r>
          </a:p>
        </p:txBody>
      </p:sp>
      <p:sp>
        <p:nvSpPr>
          <p:cNvPr id="4" name="Seeking operator feedback and pilot introduct">
            <a:extLst xmlns:a="http://schemas.openxmlformats.org/drawingml/2006/main">
              <a:ext uri="{FF2B5EF4-FFF2-40B4-BE49-F238E27FC236}">
                <a16:creationId xmlns:a16="http://schemas.microsoft.com/office/drawing/2014/main" id="{B55DF3E6-7DCD-498D-A751-ABBB52031529}"/>
              </a:ext>
            </a:extLst>
          </p:cNvPr>
          <p:cNvSpPr>
            <a:spLocks xmlns:a="http://schemas.openxmlformats.org/drawingml/2006/main" noGrp="1"/>
          </p:cNvSpPr>
          <p:nvPr/>
        </p:nvSpPr>
        <p:spPr>
          <a:xfrm xmlns:a="http://schemas.openxmlformats.org/drawingml/2006/main">
            <a:off x="762000" y="5734050"/>
            <a:ext cx="10382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D0A650"/>
                </a:solidFill>
                <a:latin typeface="DM Sans"/>
                <a:ea typeface="DM Sans"/>
                <a:cs typeface="DM Sans"/>
              </a:defRPr>
            </a:pPr>
            <a:r>
              <a:rPr sz="1950" b="1">
                <a:solidFill>
                  <a:srgbClr val="D0A650"/>
                </a:solidFill>
                <a:latin typeface="DM Sans"/>
                <a:ea typeface="DM Sans"/>
                <a:cs typeface="DM Sans"/>
              </a:rPr>
              <a:t>Seeking operator feedback and pilot introductions</a:t>
            </a:r>
          </a:p>
        </p:txBody>
      </p:sp>
      <p:sp>
        <p:nvSpPr>
          <p:cNvPr id="5" name="Kavu    08">
            <a:extLst xmlns:a="http://schemas.openxmlformats.org/drawingml/2006/main">
              <a:ext uri="{FF2B5EF4-FFF2-40B4-BE49-F238E27FC236}">
                <a16:creationId xmlns:a16="http://schemas.microsoft.com/office/drawing/2014/main" id="{52C99230-6E29-4E8A-96D3-5E73B0AE5AF8}"/>
              </a:ext>
            </a:extLst>
          </p:cNvPr>
          <p:cNvSpPr>
            <a:spLocks xmlns:a="http://schemas.openxmlformats.org/drawingml/2006/main" noGrp="1"/>
          </p:cNvSpPr>
          <p:nvPr/>
        </p:nvSpPr>
        <p:spPr>
          <a:xfrm xmlns:a="http://schemas.openxmlformats.org/drawingml/2006/main">
            <a:off x="6858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DEE5D9"/>
                </a:solidFill>
                <a:latin typeface="DM Sans"/>
                <a:ea typeface="DM Sans"/>
                <a:cs typeface="DM Sans"/>
              </a:defRPr>
            </a:pPr>
            <a:r>
              <a:rPr sz="1200" b="0">
                <a:solidFill>
                  <a:srgbClr val="DEE5D9"/>
                </a:solidFill>
                <a:latin typeface="DM Sans"/>
                <a:ea typeface="DM Sans"/>
                <a:cs typeface="DM Sans"/>
              </a:rPr>
              <a:t>Kavu    08</a:t>
            </a:r>
          </a:p>
        </p:txBody>
      </p:sp>
    </p:spTree>
    <p:extLst>
      <p:ext uri="{BB962C8B-B14F-4D97-AF65-F5344CB8AC3E}">
        <p14:creationId xmlns:p14="http://schemas.microsoft.com/office/powerpoint/2010/main" val="13557236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2026-09-22T05:32:00.2170000Z</dcterms:created>
  <dcterms:modified xsi:type="dcterms:W3CDTF">2026-09-22T05:32:00.2170000Z</dcterms:modified>
</coreProperties>
</file>