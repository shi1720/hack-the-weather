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ee21920d4114b5e" /><Relationship Type="http://schemas.openxmlformats.org/officeDocument/2006/relationships/extended-properties" Target="/docProps/app.xml" Id="Rc883242324e04cfd" /><Relationship Type="http://schemas.openxmlformats.org/officeDocument/2006/relationships/officeDocument" Target="/ppt/presentation.xml" Id="R1745c86012904258" /></Relationships>
</file>

<file path=ppt/presentation.xml><?xml version="1.0" encoding="utf-8"?>
<p:presentation xmlns:p="http://schemas.openxmlformats.org/presentationml/2006/main">
  <p:sldMasterIdLst>
    <p:sldMasterId xmlns:r="http://schemas.openxmlformats.org/officeDocument/2006/relationships" id="2147483648" r:id="R3befc193c81c4147"/>
  </p:sldMasterIdLst>
  <p:notesMasterIdLst>
    <p:notesMasterId xmlns:r="http://schemas.openxmlformats.org/officeDocument/2006/relationships" r:id="R064c8f44bd8f4165"/>
  </p:notesMasterIdLst>
  <p:sldIdLst>
    <p:sldId xmlns:r="http://schemas.openxmlformats.org/officeDocument/2006/relationships" id="256" r:id="Raeaa20ccf06b4eb3"/>
    <p:sldId xmlns:r="http://schemas.openxmlformats.org/officeDocument/2006/relationships" id="257" r:id="R2f1907fad46e406d"/>
    <p:sldId xmlns:r="http://schemas.openxmlformats.org/officeDocument/2006/relationships" id="258" r:id="R0d3d13a2f1924b51"/>
    <p:sldId xmlns:r="http://schemas.openxmlformats.org/officeDocument/2006/relationships" id="259" r:id="Rb175f6912b63458c"/>
    <p:sldId xmlns:r="http://schemas.openxmlformats.org/officeDocument/2006/relationships" id="260" r:id="Red40956175324feb"/>
    <p:sldId xmlns:r="http://schemas.openxmlformats.org/officeDocument/2006/relationships" id="261" r:id="Rb4f79a9cdf614852"/>
    <p:sldId xmlns:r="http://schemas.openxmlformats.org/officeDocument/2006/relationships" id="262" r:id="R7db9ab05c89747ad"/>
    <p:sldId xmlns:r="http://schemas.openxmlformats.org/officeDocument/2006/relationships" id="263" r:id="Rae99293194c4457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ee4faa9852d4cbb" /><Relationship Type="http://schemas.openxmlformats.org/officeDocument/2006/relationships/slideMaster" Target="/ppt/slideMasters/slideMaster1.xml" Id="R3befc193c81c4147" /><Relationship Type="http://schemas.openxmlformats.org/officeDocument/2006/relationships/notesMaster" Target="/ppt/notesMasters/notesMaster1.xml" Id="R064c8f44bd8f4165" /><Relationship Type="http://schemas.openxmlformats.org/officeDocument/2006/relationships/presProps" Target="/ppt/presProps.xml" Id="Reb51af1d99184197" /><Relationship Type="http://schemas.openxmlformats.org/officeDocument/2006/relationships/tableStyles" Target="/ppt/tableStyles.xml" Id="Rcb3054d3432a4a9d" /><Relationship Type="http://schemas.openxmlformats.org/officeDocument/2006/relationships/slide" Target="/ppt/slides/slide1.xml" Id="Raeaa20ccf06b4eb3" /><Relationship Type="http://schemas.openxmlformats.org/officeDocument/2006/relationships/slide" Target="/ppt/slides/slide2.xml" Id="R2f1907fad46e406d" /><Relationship Type="http://schemas.openxmlformats.org/officeDocument/2006/relationships/slide" Target="/ppt/slides/slide3.xml" Id="R0d3d13a2f1924b51" /><Relationship Type="http://schemas.openxmlformats.org/officeDocument/2006/relationships/slide" Target="/ppt/slides/slide4.xml" Id="Rb175f6912b63458c" /><Relationship Type="http://schemas.openxmlformats.org/officeDocument/2006/relationships/slide" Target="/ppt/slides/slide5.xml" Id="Red40956175324feb" /><Relationship Type="http://schemas.openxmlformats.org/officeDocument/2006/relationships/slide" Target="/ppt/slides/slide6.xml" Id="Rb4f79a9cdf614852" /><Relationship Type="http://schemas.openxmlformats.org/officeDocument/2006/relationships/slide" Target="/ppt/slides/slide7.xml" Id="R7db9ab05c89747ad" /><Relationship Type="http://schemas.openxmlformats.org/officeDocument/2006/relationships/slide" Target="/ppt/slides/slide8.xml" Id="Rae99293194c4457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4fef9b6561a4a1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86c675d04454aaf" /><Relationship Type="http://schemas.openxmlformats.org/officeDocument/2006/relationships/notesMaster" Target="/ppt/notesMasters/notesMaster1.xml" Id="R83eaf6e27e1c439b" /></Relationships>
</file>

<file path=ppt/notesSlides/_rels/notesSlide2.xml.rels>&#65279;<?xml version="1.0" encoding="utf-8"?><Relationships xmlns="http://schemas.openxmlformats.org/package/2006/relationships"><Relationship Type="http://schemas.openxmlformats.org/officeDocument/2006/relationships/slide" Target="/ppt/slides/slide2.xml" Id="Rb8891914ed08414e" /><Relationship Type="http://schemas.openxmlformats.org/officeDocument/2006/relationships/notesMaster" Target="/ppt/notesMasters/notesMaster1.xml" Id="Ra0f4b2b62d4449f0" /></Relationships>
</file>

<file path=ppt/notesSlides/_rels/notesSlide3.xml.rels>&#65279;<?xml version="1.0" encoding="utf-8"?><Relationships xmlns="http://schemas.openxmlformats.org/package/2006/relationships"><Relationship Type="http://schemas.openxmlformats.org/officeDocument/2006/relationships/slide" Target="/ppt/slides/slide3.xml" Id="Rd1441baa283b4837" /><Relationship Type="http://schemas.openxmlformats.org/officeDocument/2006/relationships/notesMaster" Target="/ppt/notesMasters/notesMaster1.xml" Id="R685aa715ce89407d" /></Relationships>
</file>

<file path=ppt/notesSlides/_rels/notesSlide4.xml.rels>&#65279;<?xml version="1.0" encoding="utf-8"?><Relationships xmlns="http://schemas.openxmlformats.org/package/2006/relationships"><Relationship Type="http://schemas.openxmlformats.org/officeDocument/2006/relationships/slide" Target="/ppt/slides/slide4.xml" Id="R086ab3afc0414ada" /><Relationship Type="http://schemas.openxmlformats.org/officeDocument/2006/relationships/notesMaster" Target="/ppt/notesMasters/notesMaster1.xml" Id="R2018229316054687" /></Relationships>
</file>

<file path=ppt/notesSlides/_rels/notesSlide5.xml.rels>&#65279;<?xml version="1.0" encoding="utf-8"?><Relationships xmlns="http://schemas.openxmlformats.org/package/2006/relationships"><Relationship Type="http://schemas.openxmlformats.org/officeDocument/2006/relationships/slide" Target="/ppt/slides/slide5.xml" Id="Rdbe3720ce6bb473d" /><Relationship Type="http://schemas.openxmlformats.org/officeDocument/2006/relationships/notesMaster" Target="/ppt/notesMasters/notesMaster1.xml" Id="Rc985765e36ec48f0" /></Relationships>
</file>

<file path=ppt/notesSlides/_rels/notesSlide6.xml.rels>&#65279;<?xml version="1.0" encoding="utf-8"?><Relationships xmlns="http://schemas.openxmlformats.org/package/2006/relationships"><Relationship Type="http://schemas.openxmlformats.org/officeDocument/2006/relationships/slide" Target="/ppt/slides/slide6.xml" Id="R95036974882d476b" /><Relationship Type="http://schemas.openxmlformats.org/officeDocument/2006/relationships/notesMaster" Target="/ppt/notesMasters/notesMaster1.xml" Id="R4d248c2ddc2649cc" /></Relationships>
</file>

<file path=ppt/notesSlides/_rels/notesSlide7.xml.rels>&#65279;<?xml version="1.0" encoding="utf-8"?><Relationships xmlns="http://schemas.openxmlformats.org/package/2006/relationships"><Relationship Type="http://schemas.openxmlformats.org/officeDocument/2006/relationships/slide" Target="/ppt/slides/slide7.xml" Id="R63bbed07f70f414d" /><Relationship Type="http://schemas.openxmlformats.org/officeDocument/2006/relationships/notesMaster" Target="/ppt/notesMasters/notesMaster1.xml" Id="R3dd2928c374047ed" /></Relationships>
</file>

<file path=ppt/notesSlides/_rels/notesSlide8.xml.rels>&#65279;<?xml version="1.0" encoding="utf-8"?><Relationships xmlns="http://schemas.openxmlformats.org/package/2006/relationships"><Relationship Type="http://schemas.openxmlformats.org/officeDocument/2006/relationships/slide" Target="/ppt/slides/slide8.xml" Id="R99a2301c8c1c48a2" /><Relationship Type="http://schemas.openxmlformats.org/officeDocument/2006/relationships/notesMaster" Target="/ppt/notesMasters/notesMaster1.xml" Id="R665e73a3b60e4b3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Kavu project presentation for Hack The Weather 2026. Shivam Gupta supplied product direction, commercial focus and quality constraints. OpenAI Codex assisted research, engineering, tests and documentation. No fictional teammate or field contribution is claimed. Project source: https://github.com/shi1720/Hack-The-Weather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framing is a product hypothesis, not a claim from interviews. KALRO 2021 Training of Trainers Manual, Module 10, printed pp60–64 (PDF pp72–76), covers drying, moisture for storage and practical use of moisture meters. https://keep.kalro.org/appfiles/media/vc_files/maize-tot.pdf . NCPB provides paid mechanical grain drying: https://ncpb.co.ke/drying/ . Kavu has no validated customer adoption or loss reduction at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Derived source: data/processed/quality-report.json in the submitted repository. Input 21,189 rows, 18,364 unique, 2,825 duplicates removed. First 2026-08-28T00:00:25Z, last 2026-09-15T23:58:29Z. Gap 2026-09-04T23:58:18Z to 2026-09-11T00:00:01Z, 144.029h. The UI uses EAT; the date span here explicitly uses UTC. No interpolation crosses missing observations. Source files are organizer GeoCSV exports; official folder https://drive.google.com/drive/folders/1KDoCh8vss7nv_B6SuVBlQQssjSh1yaBg . Attribution: 3d-fewsnet.icdp.ucar.edu instrument61. DOI10.5065/D6V1236Q identifies CHORDS software, not a dataset DOI. Confirm redistribution and commercial terms with the owner before commercial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of the actual local Kavu application provided by the implementation owner. Historical replay for 12 September 2026 and example batches. It shows software functionality, not a photograph of a customer installation or evidence of outcomes. Overview, Drying yard, Batches, Impact ledger and Data &amp; settings are the implemented view structure. No external imagery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methodology: deterministic operational rules use available temperature, relative humidity and rain plus capacity and lot metadata. Thresholds are configurable operating assumptions, not a trained drying model. Grain moisture comes from operator readings. Storage review requires a recent reading at or below the configured target. Moisture alone does not establish aflatoxin status or satisfy all buyer quality requirements. The historical replay is retrospective and cannot measure forecast performance. See shared domain engine and docs/methodology in final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NCPB published reference tariff: KSh377.80 per1% moisture reduction per tonne, https://ncpb.co.ke/drying/ . We interpret a drop17% to15% as2 percentage points. Calculation5t×2pp×377.8=3778. The same NCPB page quotes18.90/50kg/pp; multiplying that rounded bag basis yields3780, a KSh2 rounding difference. Kavu uses the tonne basis consistently. Inputs are illustrative, not field observations. The tariff equivalent excludes actual handling/labour/transport, may differ from a depot quote, and is not verified savings, revenue or attributable impact.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buyer, price and moat statements are hypotheses, not customer discovery results. Proposed price KSh2500/active month/site from docs/research/market-and-evidence.md. Costs include infrastructure, support, onboarding, sales and seasonality. Competitor/complement sources: NCPB https://ncpb.co.ke/drying/ and Sesi GrainMate https://sesitechnologies.com/grainmate-grain-moisture-meter/ . No claim that these products lack unexamined features. The initial customer is a maize cooperative or aggregator near the station-relevant area, not all Kenyan farmers.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pilot only. No committed yard, partner, customer or field result. Target3 yards and initially30 lot histories would test feasibility and usability, not power a causal impact study. Operators retain existing protective practices. Measure task completion, recordkeeping time, moisture-recheck process, rewetting episodes and receipts. Consider expansion after validated use, maintained station coverage and confirmed data rights. GitHub https://github.com/shi1720/Hack-The-Weather . Shivam Gupta founder/product lead; Codex-assisted research, engineering and documents.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a018ee400a24f4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6247b41f8cb4fc0" /><Relationship Type="http://schemas.openxmlformats.org/officeDocument/2006/relationships/slideLayout" Target="/ppt/slideLayouts/slideLayout1.xml" Id="Rcfbf047e26d04e5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fbf047e26d04e5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85b587f09964242" /><Relationship Type="http://schemas.openxmlformats.org/officeDocument/2006/relationships/notesSlide" Target="/ppt/notesSlides/notesSlide1.xml" Id="R82ee45bd6c6747c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e74864adc3841e3" /><Relationship Type="http://schemas.openxmlformats.org/officeDocument/2006/relationships/notesSlide" Target="/ppt/notesSlides/notesSlide2.xml" Id="Ra3f4495e6c5b46f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5a8fe8ea3b44c4c" /><Relationship Type="http://schemas.openxmlformats.org/officeDocument/2006/relationships/notesSlide" Target="/ppt/notesSlides/notesSlide3.xml" Id="R2f3e2d5bae514d1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592e7924e0144f1" /><Relationship Type="http://schemas.openxmlformats.org/officeDocument/2006/relationships/image" Target="/ppt/media/image.png" Id="Rfcea5ddde08a4ccb" /><Relationship Type="http://schemas.openxmlformats.org/officeDocument/2006/relationships/notesSlide" Target="/ppt/notesSlides/notesSlide4.xml" Id="R40518702b75846a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f045595a1ab4789" /><Relationship Type="http://schemas.openxmlformats.org/officeDocument/2006/relationships/notesSlide" Target="/ppt/notesSlides/notesSlide5.xml" Id="R100ef7c03b88416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eb6795b352d4360" /><Relationship Type="http://schemas.openxmlformats.org/officeDocument/2006/relationships/notesSlide" Target="/ppt/notesSlides/notesSlide6.xml" Id="Re3ec8837788347c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2b303ce0a664e79" /><Relationship Type="http://schemas.openxmlformats.org/officeDocument/2006/relationships/notesSlide" Target="/ppt/notesSlides/notesSlide7.xml" Id="Rce6069f06b954b2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e69945d6d0f4653" /><Relationship Type="http://schemas.openxmlformats.org/officeDocument/2006/relationships/notesSlide" Target="/ppt/notesSlides/notesSlide8.xml" Id="Ra86cf76a5bfd4d0b" /></Relationships>
</file>

<file path=ppt/slides/slide1.xml><?xml version="1.0" encoding="utf-8"?>
<p:sld xmlns:p="http://schemas.openxmlformats.org/presentationml/2006/main">
  <p:cSld>
    <p:bg>
      <p:bgPr>
        <a:solidFill xmlns:a="http://schemas.openxmlformats.org/drawingml/2006/main">
          <a:srgbClr val="244D37"/>
        </a:solidFill>
      </p:bgPr>
    </p:bg>
    <p:spTree>
      <p:nvGrpSpPr>
        <p:cNvPr id="1" name=""/>
        <p:cNvGrpSpPr/>
        <p:nvPr/>
      </p:nvGrpSpPr>
      <p:grpSpPr>
        <a:xfrm xmlns:a="http://schemas.openxmlformats.org/drawingml/2006/main"/>
      </p:grpSpPr>
      <p:sp>
        <p:nvSpPr>
          <p:cNvPr id="6" name="HACK THE WEATHER 2026">
            <a:extLst xmlns:a="http://schemas.openxmlformats.org/drawingml/2006/main">
              <a:ext uri="{FF2B5EF4-FFF2-40B4-BE49-F238E27FC236}">
                <a16:creationId xmlns:a16="http://schemas.microsoft.com/office/drawing/2014/main" id="{4D63F8CF-9201-4918-AFFE-E54A646EA2A6}"/>
              </a:ext>
            </a:extLst>
          </p:cNvPr>
          <p:cNvSpPr>
            <a:spLocks xmlns:a="http://schemas.openxmlformats.org/drawingml/2006/main" noGrp="1"/>
          </p:cNvSpPr>
          <p:nvPr/>
        </p:nvSpPr>
        <p:spPr>
          <a:xfrm xmlns:a="http://schemas.openxmlformats.org/drawingml/2006/main">
            <a:off x="723900" y="6096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425" b="1">
                <a:solidFill>
                  <a:srgbClr val="D0A650"/>
                </a:solidFill>
                <a:latin typeface="DM Sans"/>
                <a:ea typeface="DM Sans"/>
                <a:cs typeface="DM Sans"/>
              </a:defRPr>
            </a:pPr>
            <a:r>
              <a:rPr sz="1425" b="1">
                <a:solidFill>
                  <a:srgbClr val="D0A650"/>
                </a:solidFill>
                <a:latin typeface="DM Sans"/>
                <a:ea typeface="DM Sans"/>
                <a:cs typeface="DM Sans"/>
              </a:rPr>
              <a:t>HACK THE WEATHER 2026</a:t>
            </a:r>
          </a:p>
        </p:txBody>
      </p:sp>
      <p:sp>
        <p:nvSpPr>
          <p:cNvPr id="2" name="kavu.">
            <a:extLst xmlns:a="http://schemas.openxmlformats.org/drawingml/2006/main">
              <a:ext uri="{FF2B5EF4-FFF2-40B4-BE49-F238E27FC236}">
                <a16:creationId xmlns:a16="http://schemas.microsoft.com/office/drawing/2014/main" id="{50077BDC-4794-477B-8123-21A544EDA211}"/>
              </a:ext>
            </a:extLst>
          </p:cNvPr>
          <p:cNvSpPr>
            <a:spLocks xmlns:a="http://schemas.openxmlformats.org/drawingml/2006/main" noGrp="1"/>
          </p:cNvSpPr>
          <p:nvPr/>
        </p:nvSpPr>
        <p:spPr>
          <a:xfrm xmlns:a="http://schemas.openxmlformats.org/drawingml/2006/main">
            <a:off x="685800" y="1609725"/>
            <a:ext cx="106680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9600" b="1">
                <a:solidFill>
                  <a:srgbClr val="F8F9F5"/>
                </a:solidFill>
                <a:latin typeface="Manrope"/>
                <a:ea typeface="Manrope"/>
                <a:cs typeface="Manrope"/>
              </a:defRPr>
            </a:pPr>
            <a:r>
              <a:rPr sz="9600" b="1">
                <a:solidFill>
                  <a:srgbClr val="F8F9F5"/>
                </a:solidFill>
                <a:latin typeface="Manrope"/>
                <a:ea typeface="Manrope"/>
                <a:cs typeface="Manrope"/>
              </a:rPr>
              <a:t>kavu.</a:t>
            </a:r>
          </a:p>
        </p:txBody>
      </p:sp>
      <p:sp>
        <p:nvSpPr>
          <p:cNvPr id="3" name="Every dry hour counts.">
            <a:extLst xmlns:a="http://schemas.openxmlformats.org/drawingml/2006/main">
              <a:ext uri="{FF2B5EF4-FFF2-40B4-BE49-F238E27FC236}">
                <a16:creationId xmlns:a16="http://schemas.microsoft.com/office/drawing/2014/main" id="{A492778E-76C4-4BAD-A91B-5DF420A4B3DE}"/>
              </a:ext>
            </a:extLst>
          </p:cNvPr>
          <p:cNvSpPr>
            <a:spLocks xmlns:a="http://schemas.openxmlformats.org/drawingml/2006/main" noGrp="1"/>
          </p:cNvSpPr>
          <p:nvPr/>
        </p:nvSpPr>
        <p:spPr>
          <a:xfrm xmlns:a="http://schemas.openxmlformats.org/drawingml/2006/main">
            <a:off x="742950" y="3333750"/>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900" b="0">
                <a:solidFill>
                  <a:srgbClr val="F8F9F5"/>
                </a:solidFill>
                <a:latin typeface="Manrope"/>
                <a:ea typeface="Manrope"/>
                <a:cs typeface="Manrope"/>
              </a:defRPr>
            </a:pPr>
            <a:r>
              <a:rPr sz="3900" b="0">
                <a:solidFill>
                  <a:srgbClr val="F8F9F5"/>
                </a:solidFill>
                <a:latin typeface="Manrope"/>
                <a:ea typeface="Manrope"/>
                <a:cs typeface="Manrope"/>
              </a:rPr>
              <a:t>Every dry hour counts.</a:t>
            </a:r>
          </a:p>
        </p:txBody>
      </p:sp>
      <p:sp>
        <p:nvSpPr>
          <p:cNvPr id="4" name="A drying operations desk for maize cooperativ">
            <a:extLst xmlns:a="http://schemas.openxmlformats.org/drawingml/2006/main">
              <a:ext uri="{FF2B5EF4-FFF2-40B4-BE49-F238E27FC236}">
                <a16:creationId xmlns:a16="http://schemas.microsoft.com/office/drawing/2014/main" id="{8015C84C-2753-4EC6-97AD-2B64D3733B52}"/>
              </a:ext>
            </a:extLst>
          </p:cNvPr>
          <p:cNvSpPr>
            <a:spLocks xmlns:a="http://schemas.openxmlformats.org/drawingml/2006/main" noGrp="1"/>
          </p:cNvSpPr>
          <p:nvPr/>
        </p:nvSpPr>
        <p:spPr>
          <a:xfrm xmlns:a="http://schemas.openxmlformats.org/drawingml/2006/main">
            <a:off x="762000" y="4286250"/>
            <a:ext cx="1023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DEE5D9"/>
                </a:solidFill>
                <a:latin typeface="DM Sans"/>
                <a:ea typeface="DM Sans"/>
                <a:cs typeface="DM Sans"/>
              </a:defRPr>
            </a:pPr>
            <a:r>
              <a:rPr sz="2100" b="0">
                <a:solidFill>
                  <a:srgbClr val="DEE5D9"/>
                </a:solidFill>
                <a:latin typeface="DM Sans"/>
                <a:ea typeface="DM Sans"/>
                <a:cs typeface="DM Sans"/>
              </a:rPr>
              <a:t>A drying operations desk for maize cooperatives</a:t>
            </a:r>
          </a:p>
        </p:txBody>
      </p:sp>
      <p:sp>
        <p:nvSpPr>
          <p:cNvPr id="5" name="Shivam Gupta&#10;Founder and product lead">
            <a:extLst xmlns:a="http://schemas.openxmlformats.org/drawingml/2006/main">
              <a:ext uri="{FF2B5EF4-FFF2-40B4-BE49-F238E27FC236}">
                <a16:creationId xmlns:a16="http://schemas.microsoft.com/office/drawing/2014/main" id="{ADE3EE67-20D3-4B06-819C-49D8B54B2608}"/>
              </a:ext>
            </a:extLst>
          </p:cNvPr>
          <p:cNvSpPr>
            <a:spLocks xmlns:a="http://schemas.openxmlformats.org/drawingml/2006/main" noGrp="1"/>
          </p:cNvSpPr>
          <p:nvPr/>
        </p:nvSpPr>
        <p:spPr>
          <a:xfrm xmlns:a="http://schemas.openxmlformats.org/drawingml/2006/main">
            <a:off x="762000" y="5572125"/>
            <a:ext cx="666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DEE5D9"/>
                </a:solidFill>
                <a:latin typeface="DM Sans"/>
                <a:ea typeface="DM Sans"/>
                <a:cs typeface="DM Sans"/>
              </a:defRPr>
            </a:pPr>
            <a:r>
              <a:rPr sz="1650" b="0">
                <a:solidFill>
                  <a:srgbClr val="DEE5D9"/>
                </a:solidFill>
                <a:latin typeface="DM Sans"/>
                <a:ea typeface="DM Sans"/>
                <a:cs typeface="DM Sans"/>
              </a:rPr>
              <a:t>Shivam Gupta</a:t>
            </a:r>
          </a:p>
          <a:p xmlns:a="http://schemas.openxmlformats.org/drawingml/2006/main">
            <a:pPr>
              <a:defRPr sz="1650" b="0">
                <a:solidFill>
                  <a:srgbClr val="DEE5D9"/>
                </a:solidFill>
                <a:latin typeface="DM Sans"/>
                <a:ea typeface="DM Sans"/>
                <a:cs typeface="DM Sans"/>
              </a:defRPr>
            </a:pPr>
            <a:r>
              <a:rPr sz="1650" b="0">
                <a:solidFill>
                  <a:srgbClr val="DEE5D9"/>
                </a:solidFill>
                <a:latin typeface="DM Sans"/>
                <a:ea typeface="DM Sans"/>
                <a:cs typeface="DM Sans"/>
              </a:rPr>
              <a:t>Founder and product lead</a:t>
            </a:r>
          </a:p>
        </p:txBody>
      </p:sp>
    </p:spTree>
    <p:extLst>
      <p:ext uri="{BB962C8B-B14F-4D97-AF65-F5344CB8AC3E}">
        <p14:creationId xmlns:p14="http://schemas.microsoft.com/office/powerpoint/2010/main" val="903322596"/>
      </p:ext>
    </p:extLst>
  </p:cSld>
</p:sld>
</file>

<file path=ppt/slides/slide2.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10" name="The work after the weather report">
            <a:extLst xmlns:a="http://schemas.openxmlformats.org/drawingml/2006/main">
              <a:ext uri="{FF2B5EF4-FFF2-40B4-BE49-F238E27FC236}">
                <a16:creationId xmlns:a16="http://schemas.microsoft.com/office/drawing/2014/main" id="{E36ADD04-B322-4C02-AF6C-C0A0A25CA386}"/>
              </a:ext>
            </a:extLst>
          </p:cNvPr>
          <p:cNvSpPr>
            <a:spLocks xmlns:a="http://schemas.openxmlformats.org/drawingml/2006/main" noGrp="1"/>
          </p:cNvSpPr>
          <p:nvPr/>
        </p:nvSpPr>
        <p:spPr>
          <a:xfrm xmlns:a="http://schemas.openxmlformats.org/drawingml/2006/main">
            <a:off x="685800" y="514350"/>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244D37"/>
                </a:solidFill>
                <a:latin typeface="Manrope"/>
                <a:ea typeface="Manrope"/>
                <a:cs typeface="Manrope"/>
              </a:defRPr>
            </a:pPr>
            <a:r>
              <a:rPr sz="3600" b="1">
                <a:solidFill>
                  <a:srgbClr val="244D37"/>
                </a:solidFill>
                <a:latin typeface="Manrope"/>
                <a:ea typeface="Manrope"/>
                <a:cs typeface="Manrope"/>
              </a:rPr>
              <a:t>The work after the weather report</a:t>
            </a:r>
          </a:p>
        </p:txBody>
      </p:sp>
      <p:sp>
        <p:nvSpPr>
          <p:cNvPr id="2" name="Which lot&#10;needs action&#10;next?">
            <a:extLst xmlns:a="http://schemas.openxmlformats.org/drawingml/2006/main">
              <a:ext uri="{FF2B5EF4-FFF2-40B4-BE49-F238E27FC236}">
                <a16:creationId xmlns:a16="http://schemas.microsoft.com/office/drawing/2014/main" id="{FEEB1940-CB6E-4361-8B8F-62D74CB7EBB4}"/>
              </a:ext>
            </a:extLst>
          </p:cNvPr>
          <p:cNvSpPr>
            <a:spLocks xmlns:a="http://schemas.openxmlformats.org/drawingml/2006/main" noGrp="1"/>
          </p:cNvSpPr>
          <p:nvPr/>
        </p:nvSpPr>
        <p:spPr>
          <a:xfrm xmlns:a="http://schemas.openxmlformats.org/drawingml/2006/main">
            <a:off x="685800" y="2000250"/>
            <a:ext cx="50482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250" b="1">
                <a:solidFill>
                  <a:srgbClr val="244D37"/>
                </a:solidFill>
                <a:latin typeface="Manrope"/>
                <a:ea typeface="Manrope"/>
                <a:cs typeface="Manrope"/>
              </a:defRPr>
            </a:pPr>
            <a:r>
              <a:rPr sz="5250" b="1">
                <a:solidFill>
                  <a:srgbClr val="244D37"/>
                </a:solidFill>
                <a:latin typeface="Manrope"/>
                <a:ea typeface="Manrope"/>
                <a:cs typeface="Manrope"/>
              </a:rPr>
              <a:t>Which lot</a:t>
            </a:r>
          </a:p>
          <a:p xmlns:a="http://schemas.openxmlformats.org/drawingml/2006/main">
            <a:pPr>
              <a:defRPr sz="5250" b="1">
                <a:solidFill>
                  <a:srgbClr val="244D37"/>
                </a:solidFill>
                <a:latin typeface="Manrope"/>
                <a:ea typeface="Manrope"/>
                <a:cs typeface="Manrope"/>
              </a:defRPr>
            </a:pPr>
            <a:r>
              <a:rPr sz="5250" b="1">
                <a:solidFill>
                  <a:srgbClr val="244D37"/>
                </a:solidFill>
                <a:latin typeface="Manrope"/>
                <a:ea typeface="Manrope"/>
                <a:cs typeface="Manrope"/>
              </a:rPr>
              <a:t>needs action</a:t>
            </a:r>
          </a:p>
          <a:p xmlns:a="http://schemas.openxmlformats.org/drawingml/2006/main">
            <a:pPr>
              <a:defRPr sz="5250" b="1">
                <a:solidFill>
                  <a:srgbClr val="244D37"/>
                </a:solidFill>
                <a:latin typeface="Manrope"/>
                <a:ea typeface="Manrope"/>
                <a:cs typeface="Manrope"/>
              </a:defRPr>
            </a:pPr>
            <a:r>
              <a:rPr sz="5250" b="1">
                <a:solidFill>
                  <a:srgbClr val="244D37"/>
                </a:solidFill>
                <a:latin typeface="Manrope"/>
                <a:ea typeface="Manrope"/>
                <a:cs typeface="Manrope"/>
              </a:rPr>
              <a:t>next?</a:t>
            </a:r>
          </a:p>
        </p:txBody>
      </p:sp>
      <p:sp>
        <p:nvSpPr>
          <p:cNvPr id="3" name="Spread and turn">
            <a:extLst xmlns:a="http://schemas.openxmlformats.org/drawingml/2006/main">
              <a:ext uri="{FF2B5EF4-FFF2-40B4-BE49-F238E27FC236}">
                <a16:creationId xmlns:a16="http://schemas.microsoft.com/office/drawing/2014/main" id="{9C664D53-9D07-4EE6-A620-0CC2CAC6BA71}"/>
              </a:ext>
            </a:extLst>
          </p:cNvPr>
          <p:cNvSpPr>
            <a:spLocks xmlns:a="http://schemas.openxmlformats.org/drawingml/2006/main" noGrp="1"/>
          </p:cNvSpPr>
          <p:nvPr/>
        </p:nvSpPr>
        <p:spPr>
          <a:xfrm xmlns:a="http://schemas.openxmlformats.org/drawingml/2006/main">
            <a:off x="6591300" y="1952625"/>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400" b="1">
                <a:solidFill>
                  <a:srgbClr val="244D37"/>
                </a:solidFill>
                <a:latin typeface="DM Sans"/>
                <a:ea typeface="DM Sans"/>
                <a:cs typeface="DM Sans"/>
              </a:defRPr>
            </a:pPr>
            <a:r>
              <a:rPr sz="2400" b="1">
                <a:solidFill>
                  <a:srgbClr val="244D37"/>
                </a:solidFill>
                <a:latin typeface="DM Sans"/>
                <a:ea typeface="DM Sans"/>
                <a:cs typeface="DM Sans"/>
              </a:rPr>
              <a:t>Spread and turn</a:t>
            </a:r>
          </a:p>
        </p:txBody>
      </p:sp>
      <p:sp>
        <p:nvSpPr>
          <p:cNvPr id="4" name="Use the available yard and operator time.">
            <a:extLst xmlns:a="http://schemas.openxmlformats.org/drawingml/2006/main">
              <a:ext uri="{FF2B5EF4-FFF2-40B4-BE49-F238E27FC236}">
                <a16:creationId xmlns:a16="http://schemas.microsoft.com/office/drawing/2014/main" id="{99F8DF17-1DFC-4E4B-A933-7010749C6009}"/>
              </a:ext>
            </a:extLst>
          </p:cNvPr>
          <p:cNvSpPr>
            <a:spLocks xmlns:a="http://schemas.openxmlformats.org/drawingml/2006/main" noGrp="1"/>
          </p:cNvSpPr>
          <p:nvPr/>
        </p:nvSpPr>
        <p:spPr>
          <a:xfrm xmlns:a="http://schemas.openxmlformats.org/drawingml/2006/main">
            <a:off x="6591300" y="2476500"/>
            <a:ext cx="4619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667561"/>
                </a:solidFill>
                <a:latin typeface="DM Sans"/>
                <a:ea typeface="DM Sans"/>
                <a:cs typeface="DM Sans"/>
              </a:defRPr>
            </a:pPr>
            <a:r>
              <a:rPr sz="1875" b="0">
                <a:solidFill>
                  <a:srgbClr val="667561"/>
                </a:solidFill>
                <a:latin typeface="DM Sans"/>
                <a:ea typeface="DM Sans"/>
                <a:cs typeface="DM Sans"/>
              </a:rPr>
              <a:t>Use the available yard and operator time.</a:t>
            </a:r>
          </a:p>
        </p:txBody>
      </p:sp>
      <p:sp>
        <p:nvSpPr>
          <p:cNvPr id="5" name="Cover or seek a dryer">
            <a:extLst xmlns:a="http://schemas.openxmlformats.org/drawingml/2006/main">
              <a:ext uri="{FF2B5EF4-FFF2-40B4-BE49-F238E27FC236}">
                <a16:creationId xmlns:a16="http://schemas.microsoft.com/office/drawing/2014/main" id="{4127E1FB-FF5E-4330-B579-578C9F0F9880}"/>
              </a:ext>
            </a:extLst>
          </p:cNvPr>
          <p:cNvSpPr>
            <a:spLocks xmlns:a="http://schemas.openxmlformats.org/drawingml/2006/main" noGrp="1"/>
          </p:cNvSpPr>
          <p:nvPr/>
        </p:nvSpPr>
        <p:spPr>
          <a:xfrm xmlns:a="http://schemas.openxmlformats.org/drawingml/2006/main">
            <a:off x="6591300" y="3343275"/>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400" b="1">
                <a:solidFill>
                  <a:srgbClr val="244D37"/>
                </a:solidFill>
                <a:latin typeface="DM Sans"/>
                <a:ea typeface="DM Sans"/>
                <a:cs typeface="DM Sans"/>
              </a:defRPr>
            </a:pPr>
            <a:r>
              <a:rPr sz="2400" b="1">
                <a:solidFill>
                  <a:srgbClr val="244D37"/>
                </a:solidFill>
                <a:latin typeface="DM Sans"/>
                <a:ea typeface="DM Sans"/>
                <a:cs typeface="DM Sans"/>
              </a:rPr>
              <a:t>Cover or seek a dryer</a:t>
            </a:r>
          </a:p>
        </p:txBody>
      </p:sp>
      <p:sp>
        <p:nvSpPr>
          <p:cNvPr id="6" name="Respond when the weather changes.">
            <a:extLst xmlns:a="http://schemas.openxmlformats.org/drawingml/2006/main">
              <a:ext uri="{FF2B5EF4-FFF2-40B4-BE49-F238E27FC236}">
                <a16:creationId xmlns:a16="http://schemas.microsoft.com/office/drawing/2014/main" id="{C790CB2F-958E-4E19-84D9-7745726F3CB4}"/>
              </a:ext>
            </a:extLst>
          </p:cNvPr>
          <p:cNvSpPr>
            <a:spLocks xmlns:a="http://schemas.openxmlformats.org/drawingml/2006/main" noGrp="1"/>
          </p:cNvSpPr>
          <p:nvPr/>
        </p:nvSpPr>
        <p:spPr>
          <a:xfrm xmlns:a="http://schemas.openxmlformats.org/drawingml/2006/main">
            <a:off x="6591300" y="3857625"/>
            <a:ext cx="4619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667561"/>
                </a:solidFill>
                <a:latin typeface="DM Sans"/>
                <a:ea typeface="DM Sans"/>
                <a:cs typeface="DM Sans"/>
              </a:defRPr>
            </a:pPr>
            <a:r>
              <a:rPr sz="1875" b="0">
                <a:solidFill>
                  <a:srgbClr val="667561"/>
                </a:solidFill>
                <a:latin typeface="DM Sans"/>
                <a:ea typeface="DM Sans"/>
                <a:cs typeface="DM Sans"/>
              </a:rPr>
              <a:t>Respond when the weather changes.</a:t>
            </a:r>
          </a:p>
        </p:txBody>
      </p:sp>
      <p:sp>
        <p:nvSpPr>
          <p:cNvPr id="7" name="Measure again">
            <a:extLst xmlns:a="http://schemas.openxmlformats.org/drawingml/2006/main">
              <a:ext uri="{FF2B5EF4-FFF2-40B4-BE49-F238E27FC236}">
                <a16:creationId xmlns:a16="http://schemas.microsoft.com/office/drawing/2014/main" id="{BD2ACDD5-0DF4-4A70-8D6A-3A2B42597381}"/>
              </a:ext>
            </a:extLst>
          </p:cNvPr>
          <p:cNvSpPr>
            <a:spLocks xmlns:a="http://schemas.openxmlformats.org/drawingml/2006/main" noGrp="1"/>
          </p:cNvSpPr>
          <p:nvPr/>
        </p:nvSpPr>
        <p:spPr>
          <a:xfrm xmlns:a="http://schemas.openxmlformats.org/drawingml/2006/main">
            <a:off x="6591300" y="4705350"/>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400" b="1">
                <a:solidFill>
                  <a:srgbClr val="244D37"/>
                </a:solidFill>
                <a:latin typeface="DM Sans"/>
                <a:ea typeface="DM Sans"/>
                <a:cs typeface="DM Sans"/>
              </a:defRPr>
            </a:pPr>
            <a:r>
              <a:rPr sz="2400" b="1">
                <a:solidFill>
                  <a:srgbClr val="244D37"/>
                </a:solidFill>
                <a:latin typeface="DM Sans"/>
                <a:ea typeface="DM Sans"/>
                <a:cs typeface="DM Sans"/>
              </a:rPr>
              <a:t>Measure again</a:t>
            </a:r>
          </a:p>
        </p:txBody>
      </p:sp>
      <p:sp>
        <p:nvSpPr>
          <p:cNvPr id="8" name="A new reading decides the next step.">
            <a:extLst xmlns:a="http://schemas.openxmlformats.org/drawingml/2006/main">
              <a:ext uri="{FF2B5EF4-FFF2-40B4-BE49-F238E27FC236}">
                <a16:creationId xmlns:a16="http://schemas.microsoft.com/office/drawing/2014/main" id="{566E9944-CF0D-4994-981C-0A202E5E28B8}"/>
              </a:ext>
            </a:extLst>
          </p:cNvPr>
          <p:cNvSpPr>
            <a:spLocks xmlns:a="http://schemas.openxmlformats.org/drawingml/2006/main" noGrp="1"/>
          </p:cNvSpPr>
          <p:nvPr/>
        </p:nvSpPr>
        <p:spPr>
          <a:xfrm xmlns:a="http://schemas.openxmlformats.org/drawingml/2006/main">
            <a:off x="6591300" y="5219700"/>
            <a:ext cx="4619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667561"/>
                </a:solidFill>
                <a:latin typeface="DM Sans"/>
                <a:ea typeface="DM Sans"/>
                <a:cs typeface="DM Sans"/>
              </a:defRPr>
            </a:pPr>
            <a:r>
              <a:rPr sz="1875" b="0">
                <a:solidFill>
                  <a:srgbClr val="667561"/>
                </a:solidFill>
                <a:latin typeface="DM Sans"/>
                <a:ea typeface="DM Sans"/>
                <a:cs typeface="DM Sans"/>
              </a:rPr>
              <a:t>A new reading decides the next step.</a:t>
            </a:r>
          </a:p>
        </p:txBody>
      </p:sp>
      <p:sp>
        <p:nvSpPr>
          <p:cNvPr id="9" name="Kavu    02">
            <a:extLst xmlns:a="http://schemas.openxmlformats.org/drawingml/2006/main">
              <a:ext uri="{FF2B5EF4-FFF2-40B4-BE49-F238E27FC236}">
                <a16:creationId xmlns:a16="http://schemas.microsoft.com/office/drawing/2014/main" id="{DC5FDF42-5357-487B-8D50-15A715EA418D}"/>
              </a:ext>
            </a:extLst>
          </p:cNvPr>
          <p:cNvSpPr>
            <a:spLocks xmlns:a="http://schemas.openxmlformats.org/drawingml/2006/main" noGrp="1"/>
          </p:cNvSpPr>
          <p:nvPr/>
        </p:nvSpPr>
        <p:spPr>
          <a:xfrm xmlns:a="http://schemas.openxmlformats.org/drawingml/2006/main">
            <a:off x="685800" y="6334125"/>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667561"/>
                </a:solidFill>
                <a:latin typeface="DM Sans"/>
                <a:ea typeface="DM Sans"/>
                <a:cs typeface="DM Sans"/>
              </a:defRPr>
            </a:pPr>
            <a:r>
              <a:rPr sz="1200" b="0">
                <a:solidFill>
                  <a:srgbClr val="667561"/>
                </a:solidFill>
                <a:latin typeface="DM Sans"/>
                <a:ea typeface="DM Sans"/>
                <a:cs typeface="DM Sans"/>
              </a:rPr>
              <a:t>Kavu    02</a:t>
            </a:r>
          </a:p>
        </p:txBody>
      </p:sp>
    </p:spTree>
    <p:extLst>
      <p:ext uri="{BB962C8B-B14F-4D97-AF65-F5344CB8AC3E}">
        <p14:creationId xmlns:p14="http://schemas.microsoft.com/office/powerpoint/2010/main" val="2073933236"/>
      </p:ext>
    </p:extLst>
  </p:cSld>
</p:sld>
</file>

<file path=ppt/slides/slide3.xml><?xml version="1.0" encoding="utf-8"?>
<p:sld xmlns:p="http://schemas.openxmlformats.org/presentationml/2006/main">
  <p:cSld>
    <p:bg>
      <p:bgPr>
        <a:solidFill xmlns:a="http://schemas.openxmlformats.org/drawingml/2006/main">
          <a:srgbClr val="244D37"/>
        </a:solidFill>
      </p:bgPr>
    </p:bg>
    <p:spTree>
      <p:nvGrpSpPr>
        <p:cNvPr id="1" name=""/>
        <p:cNvGrpSpPr/>
        <p:nvPr/>
      </p:nvGrpSpPr>
      <p:grpSpPr>
        <a:xfrm xmlns:a="http://schemas.openxmlformats.org/drawingml/2006/main"/>
      </p:grpSpPr>
      <p:sp>
        <p:nvSpPr>
          <p:cNvPr id="9" name="Real observations, visible limits">
            <a:extLst xmlns:a="http://schemas.openxmlformats.org/drawingml/2006/main">
              <a:ext uri="{FF2B5EF4-FFF2-40B4-BE49-F238E27FC236}">
                <a16:creationId xmlns:a16="http://schemas.microsoft.com/office/drawing/2014/main" id="{FB7CE558-4FCE-4414-A879-A00A95D3FED0}"/>
              </a:ext>
            </a:extLst>
          </p:cNvPr>
          <p:cNvSpPr>
            <a:spLocks xmlns:a="http://schemas.openxmlformats.org/drawingml/2006/main" noGrp="1"/>
          </p:cNvSpPr>
          <p:nvPr/>
        </p:nvSpPr>
        <p:spPr>
          <a:xfrm xmlns:a="http://schemas.openxmlformats.org/drawingml/2006/main">
            <a:off x="685800" y="514350"/>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F8F9F5"/>
                </a:solidFill>
                <a:latin typeface="Manrope"/>
                <a:ea typeface="Manrope"/>
                <a:cs typeface="Manrope"/>
              </a:defRPr>
            </a:pPr>
            <a:r>
              <a:rPr sz="3600" b="1">
                <a:solidFill>
                  <a:srgbClr val="F8F9F5"/>
                </a:solidFill>
                <a:latin typeface="Manrope"/>
                <a:ea typeface="Manrope"/>
                <a:cs typeface="Manrope"/>
              </a:rPr>
              <a:t>Real observations, visible limits</a:t>
            </a:r>
          </a:p>
        </p:txBody>
      </p:sp>
      <p:sp>
        <p:nvSpPr>
          <p:cNvPr id="2" name="18,364">
            <a:extLst xmlns:a="http://schemas.openxmlformats.org/drawingml/2006/main">
              <a:ext uri="{FF2B5EF4-FFF2-40B4-BE49-F238E27FC236}">
                <a16:creationId xmlns:a16="http://schemas.microsoft.com/office/drawing/2014/main" id="{66CAB8AB-43AA-4BFE-B8C1-A4A137E2BDA5}"/>
              </a:ext>
            </a:extLst>
          </p:cNvPr>
          <p:cNvSpPr>
            <a:spLocks xmlns:a="http://schemas.openxmlformats.org/drawingml/2006/main" noGrp="1"/>
          </p:cNvSpPr>
          <p:nvPr/>
        </p:nvSpPr>
        <p:spPr>
          <a:xfrm xmlns:a="http://schemas.openxmlformats.org/drawingml/2006/main">
            <a:off x="685800" y="2009775"/>
            <a:ext cx="5715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7125" b="1">
                <a:solidFill>
                  <a:srgbClr val="F8F9F5"/>
                </a:solidFill>
                <a:latin typeface="Manrope"/>
                <a:ea typeface="Manrope"/>
                <a:cs typeface="Manrope"/>
              </a:defRPr>
            </a:pPr>
            <a:r>
              <a:rPr sz="7125" b="1">
                <a:solidFill>
                  <a:srgbClr val="F8F9F5"/>
                </a:solidFill>
                <a:latin typeface="Manrope"/>
                <a:ea typeface="Manrope"/>
                <a:cs typeface="Manrope"/>
              </a:rPr>
              <a:t>18,364</a:t>
            </a:r>
          </a:p>
        </p:txBody>
      </p:sp>
      <p:sp>
        <p:nvSpPr>
          <p:cNvPr id="3" name="unique Conduit observations">
            <a:extLst xmlns:a="http://schemas.openxmlformats.org/drawingml/2006/main">
              <a:ext uri="{FF2B5EF4-FFF2-40B4-BE49-F238E27FC236}">
                <a16:creationId xmlns:a16="http://schemas.microsoft.com/office/drawing/2014/main" id="{5D6E3332-C0B2-4023-8594-51D7C141CAAB}"/>
              </a:ext>
            </a:extLst>
          </p:cNvPr>
          <p:cNvSpPr>
            <a:spLocks xmlns:a="http://schemas.openxmlformats.org/drawingml/2006/main" noGrp="1"/>
          </p:cNvSpPr>
          <p:nvPr/>
        </p:nvSpPr>
        <p:spPr>
          <a:xfrm xmlns:a="http://schemas.openxmlformats.org/drawingml/2006/main">
            <a:off x="742950" y="3124200"/>
            <a:ext cx="619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DEE5D9"/>
                </a:solidFill>
                <a:latin typeface="DM Sans"/>
                <a:ea typeface="DM Sans"/>
                <a:cs typeface="DM Sans"/>
              </a:defRPr>
            </a:pPr>
            <a:r>
              <a:rPr sz="2100" b="0">
                <a:solidFill>
                  <a:srgbClr val="DEE5D9"/>
                </a:solidFill>
                <a:latin typeface="DM Sans"/>
                <a:ea typeface="DM Sans"/>
                <a:cs typeface="DM Sans"/>
              </a:rPr>
              <a:t>unique Conduit observations</a:t>
            </a:r>
          </a:p>
        </p:txBody>
      </p:sp>
      <p:sp>
        <p:nvSpPr>
          <p:cNvPr id="4" name="2,825">
            <a:extLst xmlns:a="http://schemas.openxmlformats.org/drawingml/2006/main">
              <a:ext uri="{FF2B5EF4-FFF2-40B4-BE49-F238E27FC236}">
                <a16:creationId xmlns:a16="http://schemas.microsoft.com/office/drawing/2014/main" id="{226948BB-3C4C-4266-844C-A6EBEFC85742}"/>
              </a:ext>
            </a:extLst>
          </p:cNvPr>
          <p:cNvSpPr>
            <a:spLocks xmlns:a="http://schemas.openxmlformats.org/drawingml/2006/main" noGrp="1"/>
          </p:cNvSpPr>
          <p:nvPr/>
        </p:nvSpPr>
        <p:spPr>
          <a:xfrm xmlns:a="http://schemas.openxmlformats.org/drawingml/2006/main">
            <a:off x="7620000" y="2124075"/>
            <a:ext cx="3714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250" b="1">
                <a:solidFill>
                  <a:srgbClr val="D0A650"/>
                </a:solidFill>
                <a:latin typeface="Manrope"/>
                <a:ea typeface="Manrope"/>
                <a:cs typeface="Manrope"/>
              </a:defRPr>
            </a:pPr>
            <a:r>
              <a:rPr sz="5250" b="1">
                <a:solidFill>
                  <a:srgbClr val="D0A650"/>
                </a:solidFill>
                <a:latin typeface="Manrope"/>
                <a:ea typeface="Manrope"/>
                <a:cs typeface="Manrope"/>
              </a:rPr>
              <a:t>2,825</a:t>
            </a:r>
          </a:p>
        </p:txBody>
      </p:sp>
      <p:sp>
        <p:nvSpPr>
          <p:cNvPr id="5" name="duplicate rows removed">
            <a:extLst xmlns:a="http://schemas.openxmlformats.org/drawingml/2006/main">
              <a:ext uri="{FF2B5EF4-FFF2-40B4-BE49-F238E27FC236}">
                <a16:creationId xmlns:a16="http://schemas.microsoft.com/office/drawing/2014/main" id="{E28F4998-9ACD-4D51-AF1E-79DBE08EFAD6}"/>
              </a:ext>
            </a:extLst>
          </p:cNvPr>
          <p:cNvSpPr>
            <a:spLocks xmlns:a="http://schemas.openxmlformats.org/drawingml/2006/main" noGrp="1"/>
          </p:cNvSpPr>
          <p:nvPr/>
        </p:nvSpPr>
        <p:spPr>
          <a:xfrm xmlns:a="http://schemas.openxmlformats.org/drawingml/2006/main">
            <a:off x="7648575" y="3124200"/>
            <a:ext cx="3571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DEE5D9"/>
                </a:solidFill>
                <a:latin typeface="DM Sans"/>
                <a:ea typeface="DM Sans"/>
                <a:cs typeface="DM Sans"/>
              </a:defRPr>
            </a:pPr>
            <a:r>
              <a:rPr sz="1875" b="0">
                <a:solidFill>
                  <a:srgbClr val="DEE5D9"/>
                </a:solidFill>
                <a:latin typeface="DM Sans"/>
                <a:ea typeface="DM Sans"/>
                <a:cs typeface="DM Sans"/>
              </a:rPr>
              <a:t>duplicate rows removed</a:t>
            </a:r>
          </a:p>
        </p:txBody>
      </p:sp>
      <p:sp>
        <p:nvSpPr>
          <p:cNvPr id="6" name="28 Aug–15 Sep 2026 UTC">
            <a:extLst xmlns:a="http://schemas.openxmlformats.org/drawingml/2006/main">
              <a:ext uri="{FF2B5EF4-FFF2-40B4-BE49-F238E27FC236}">
                <a16:creationId xmlns:a16="http://schemas.microsoft.com/office/drawing/2014/main" id="{3E47D19C-5825-40C9-8A5A-A5957E45A7F6}"/>
              </a:ext>
            </a:extLst>
          </p:cNvPr>
          <p:cNvSpPr>
            <a:spLocks xmlns:a="http://schemas.openxmlformats.org/drawingml/2006/main" noGrp="1"/>
          </p:cNvSpPr>
          <p:nvPr/>
        </p:nvSpPr>
        <p:spPr>
          <a:xfrm xmlns:a="http://schemas.openxmlformats.org/drawingml/2006/main">
            <a:off x="742950" y="4314825"/>
            <a:ext cx="966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400" b="1">
                <a:solidFill>
                  <a:srgbClr val="F8F9F5"/>
                </a:solidFill>
                <a:latin typeface="DM Sans"/>
                <a:ea typeface="DM Sans"/>
                <a:cs typeface="DM Sans"/>
              </a:defRPr>
            </a:pPr>
            <a:r>
              <a:rPr sz="2400" b="1">
                <a:solidFill>
                  <a:srgbClr val="F8F9F5"/>
                </a:solidFill>
                <a:latin typeface="DM Sans"/>
                <a:ea typeface="DM Sans"/>
                <a:cs typeface="DM Sans"/>
              </a:rPr>
              <a:t>28 Aug–15 Sep 2026 UTC</a:t>
            </a:r>
          </a:p>
        </p:txBody>
      </p:sp>
      <p:sp>
        <p:nvSpPr>
          <p:cNvPr id="7" name="A 144-hour gap remains missing.&#10;Historical re">
            <a:extLst xmlns:a="http://schemas.openxmlformats.org/drawingml/2006/main">
              <a:ext uri="{FF2B5EF4-FFF2-40B4-BE49-F238E27FC236}">
                <a16:creationId xmlns:a16="http://schemas.microsoft.com/office/drawing/2014/main" id="{2CCF9CC5-3CB8-4B05-8C36-302E4DED4B83}"/>
              </a:ext>
            </a:extLst>
          </p:cNvPr>
          <p:cNvSpPr>
            <a:spLocks xmlns:a="http://schemas.openxmlformats.org/drawingml/2006/main" noGrp="1"/>
          </p:cNvSpPr>
          <p:nvPr/>
        </p:nvSpPr>
        <p:spPr>
          <a:xfrm xmlns:a="http://schemas.openxmlformats.org/drawingml/2006/main">
            <a:off x="742950" y="4962525"/>
            <a:ext cx="10382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75" b="0">
                <a:solidFill>
                  <a:srgbClr val="DEE5D9"/>
                </a:solidFill>
                <a:latin typeface="DM Sans"/>
                <a:ea typeface="DM Sans"/>
                <a:cs typeface="DM Sans"/>
              </a:defRPr>
            </a:pPr>
            <a:r>
              <a:rPr sz="2175" b="0">
                <a:solidFill>
                  <a:srgbClr val="DEE5D9"/>
                </a:solidFill>
                <a:latin typeface="DM Sans"/>
                <a:ea typeface="DM Sans"/>
                <a:cs typeface="DM Sans"/>
              </a:rPr>
              <a:t>A 144-hour gap remains missing.</a:t>
            </a:r>
          </a:p>
          <a:p xmlns:a="http://schemas.openxmlformats.org/drawingml/2006/main">
            <a:pPr>
              <a:defRPr sz="2175" b="0">
                <a:solidFill>
                  <a:srgbClr val="DEE5D9"/>
                </a:solidFill>
                <a:latin typeface="DM Sans"/>
                <a:ea typeface="DM Sans"/>
                <a:cs typeface="DM Sans"/>
              </a:defRPr>
            </a:pPr>
            <a:r>
              <a:rPr sz="2175" b="0">
                <a:solidFill>
                  <a:srgbClr val="DEE5D9"/>
                </a:solidFill>
                <a:latin typeface="DM Sans"/>
                <a:ea typeface="DM Sans"/>
                <a:cs typeface="DM Sans"/>
              </a:rPr>
              <a:t>Historical replay represents one JKUAT station.</a:t>
            </a:r>
          </a:p>
        </p:txBody>
      </p:sp>
      <p:sp>
        <p:nvSpPr>
          <p:cNvPr id="8" name="Kavu    03">
            <a:extLst xmlns:a="http://schemas.openxmlformats.org/drawingml/2006/main">
              <a:ext uri="{FF2B5EF4-FFF2-40B4-BE49-F238E27FC236}">
                <a16:creationId xmlns:a16="http://schemas.microsoft.com/office/drawing/2014/main" id="{A8D0CE2F-3116-43EF-A57F-F4684D3BCB56}"/>
              </a:ext>
            </a:extLst>
          </p:cNvPr>
          <p:cNvSpPr>
            <a:spLocks xmlns:a="http://schemas.openxmlformats.org/drawingml/2006/main" noGrp="1"/>
          </p:cNvSpPr>
          <p:nvPr/>
        </p:nvSpPr>
        <p:spPr>
          <a:xfrm xmlns:a="http://schemas.openxmlformats.org/drawingml/2006/main">
            <a:off x="685800" y="6334125"/>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DEE5D9"/>
                </a:solidFill>
                <a:latin typeface="DM Sans"/>
                <a:ea typeface="DM Sans"/>
                <a:cs typeface="DM Sans"/>
              </a:defRPr>
            </a:pPr>
            <a:r>
              <a:rPr sz="1200" b="0">
                <a:solidFill>
                  <a:srgbClr val="DEE5D9"/>
                </a:solidFill>
                <a:latin typeface="DM Sans"/>
                <a:ea typeface="DM Sans"/>
                <a:cs typeface="DM Sans"/>
              </a:rPr>
              <a:t>Kavu    03</a:t>
            </a:r>
          </a:p>
        </p:txBody>
      </p:sp>
    </p:spTree>
    <p:extLst>
      <p:ext uri="{BB962C8B-B14F-4D97-AF65-F5344CB8AC3E}">
        <p14:creationId xmlns:p14="http://schemas.microsoft.com/office/powerpoint/2010/main" val="1283748357"/>
      </p:ext>
    </p:extLst>
  </p:cSld>
</p:sld>
</file>

<file path=ppt/slides/slide4.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6" name="One workspace for the next job">
            <a:extLst xmlns:a="http://schemas.openxmlformats.org/drawingml/2006/main">
              <a:ext uri="{FF2B5EF4-FFF2-40B4-BE49-F238E27FC236}">
                <a16:creationId xmlns:a16="http://schemas.microsoft.com/office/drawing/2014/main" id="{9152C43B-BA1C-492B-B7B9-40681FAA9401}"/>
              </a:ext>
            </a:extLst>
          </p:cNvPr>
          <p:cNvSpPr>
            <a:spLocks xmlns:a="http://schemas.openxmlformats.org/drawingml/2006/main" noGrp="1"/>
          </p:cNvSpPr>
          <p:nvPr/>
        </p:nvSpPr>
        <p:spPr>
          <a:xfrm xmlns:a="http://schemas.openxmlformats.org/drawingml/2006/main">
            <a:off x="685800" y="514350"/>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244D37"/>
                </a:solidFill>
                <a:latin typeface="Manrope"/>
                <a:ea typeface="Manrope"/>
                <a:cs typeface="Manrope"/>
              </a:defRPr>
            </a:pPr>
            <a:r>
              <a:rPr sz="3600" b="1">
                <a:solidFill>
                  <a:srgbClr val="244D37"/>
                </a:solidFill>
                <a:latin typeface="Manrope"/>
                <a:ea typeface="Manrope"/>
                <a:cs typeface="Manrope"/>
              </a:rPr>
              <a:t>One workspace for the next job</a:t>
            </a:r>
          </a:p>
        </p:txBody>
      </p:sp>
      <p:sp>
        <p:nvSpPr>
          <p:cNvPr id="2" name="A plan the&#10;operator can&#10;carry out">
            <a:extLst xmlns:a="http://schemas.openxmlformats.org/drawingml/2006/main">
              <a:ext uri="{FF2B5EF4-FFF2-40B4-BE49-F238E27FC236}">
                <a16:creationId xmlns:a16="http://schemas.microsoft.com/office/drawing/2014/main" id="{61F19BC3-B77D-4088-8756-1DB605AF84CD}"/>
              </a:ext>
            </a:extLst>
          </p:cNvPr>
          <p:cNvSpPr>
            <a:spLocks xmlns:a="http://schemas.openxmlformats.org/drawingml/2006/main" noGrp="1"/>
          </p:cNvSpPr>
          <p:nvPr/>
        </p:nvSpPr>
        <p:spPr>
          <a:xfrm xmlns:a="http://schemas.openxmlformats.org/drawingml/2006/main">
            <a:off x="685800" y="2066925"/>
            <a:ext cx="3429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244D37"/>
                </a:solidFill>
                <a:latin typeface="Manrope"/>
                <a:ea typeface="Manrope"/>
                <a:cs typeface="Manrope"/>
              </a:defRPr>
            </a:pPr>
            <a:r>
              <a:rPr sz="3300" b="1">
                <a:solidFill>
                  <a:srgbClr val="244D37"/>
                </a:solidFill>
                <a:latin typeface="Manrope"/>
                <a:ea typeface="Manrope"/>
                <a:cs typeface="Manrope"/>
              </a:rPr>
              <a:t>A plan the</a:t>
            </a:r>
          </a:p>
          <a:p xmlns:a="http://schemas.openxmlformats.org/drawingml/2006/main">
            <a:pPr>
              <a:defRPr sz="3300" b="1">
                <a:solidFill>
                  <a:srgbClr val="244D37"/>
                </a:solidFill>
                <a:latin typeface="Manrope"/>
                <a:ea typeface="Manrope"/>
                <a:cs typeface="Manrope"/>
              </a:defRPr>
            </a:pPr>
            <a:r>
              <a:rPr sz="3300" b="1">
                <a:solidFill>
                  <a:srgbClr val="244D37"/>
                </a:solidFill>
                <a:latin typeface="Manrope"/>
                <a:ea typeface="Manrope"/>
                <a:cs typeface="Manrope"/>
              </a:rPr>
              <a:t>operator can</a:t>
            </a:r>
          </a:p>
          <a:p xmlns:a="http://schemas.openxmlformats.org/drawingml/2006/main">
            <a:pPr>
              <a:defRPr sz="3300" b="1">
                <a:solidFill>
                  <a:srgbClr val="244D37"/>
                </a:solidFill>
                <a:latin typeface="Manrope"/>
                <a:ea typeface="Manrope"/>
                <a:cs typeface="Manrope"/>
              </a:defRPr>
            </a:pPr>
            <a:r>
              <a:rPr sz="3300" b="1">
                <a:solidFill>
                  <a:srgbClr val="244D37"/>
                </a:solidFill>
                <a:latin typeface="Manrope"/>
                <a:ea typeface="Manrope"/>
                <a:cs typeface="Manrope"/>
              </a:rPr>
              <a:t>carry out</a:t>
            </a:r>
          </a:p>
        </p:txBody>
      </p:sp>
      <p:sp>
        <p:nvSpPr>
          <p:cNvPr id="3" name="Capacity-aware allocation&#10;&#10;Recorded task comp">
            <a:extLst xmlns:a="http://schemas.openxmlformats.org/drawingml/2006/main">
              <a:ext uri="{FF2B5EF4-FFF2-40B4-BE49-F238E27FC236}">
                <a16:creationId xmlns:a16="http://schemas.microsoft.com/office/drawing/2014/main" id="{294A2DAF-B8AD-4AFE-B160-01040ED73B39}"/>
              </a:ext>
            </a:extLst>
          </p:cNvPr>
          <p:cNvSpPr>
            <a:spLocks xmlns:a="http://schemas.openxmlformats.org/drawingml/2006/main" noGrp="1"/>
          </p:cNvSpPr>
          <p:nvPr/>
        </p:nvSpPr>
        <p:spPr>
          <a:xfrm xmlns:a="http://schemas.openxmlformats.org/drawingml/2006/main">
            <a:off x="714375" y="4257675"/>
            <a:ext cx="3286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667561"/>
                </a:solidFill>
                <a:latin typeface="DM Sans"/>
                <a:ea typeface="DM Sans"/>
                <a:cs typeface="DM Sans"/>
              </a:defRPr>
            </a:pPr>
            <a:r>
              <a:rPr sz="1875" b="0">
                <a:solidFill>
                  <a:srgbClr val="667561"/>
                </a:solidFill>
                <a:latin typeface="DM Sans"/>
                <a:ea typeface="DM Sans"/>
                <a:cs typeface="DM Sans"/>
              </a:rPr>
              <a:t>Capacity-aware allocation</a:t>
            </a:r>
          </a:p>
          <a:p xmlns:a="http://schemas.openxmlformats.org/drawingml/2006/main">
            <a:r>
              <a:t/>
            </a:r>
          </a:p>
          <a:p xmlns:a="http://schemas.openxmlformats.org/drawingml/2006/main">
            <a:pPr>
              <a:defRPr sz="1875" b="0">
                <a:solidFill>
                  <a:srgbClr val="667561"/>
                </a:solidFill>
                <a:latin typeface="DM Sans"/>
                <a:ea typeface="DM Sans"/>
                <a:cs typeface="DM Sans"/>
              </a:defRPr>
            </a:pPr>
            <a:r>
              <a:rPr sz="1875" b="0">
                <a:solidFill>
                  <a:srgbClr val="667561"/>
                </a:solidFill>
                <a:latin typeface="DM Sans"/>
                <a:ea typeface="DM Sans"/>
                <a:cs typeface="DM Sans"/>
              </a:rPr>
              <a:t>Recorded task completion</a:t>
            </a:r>
          </a:p>
          <a:p xmlns:a="http://schemas.openxmlformats.org/drawingml/2006/main">
            <a:r>
              <a:t/>
            </a:r>
          </a:p>
          <a:p xmlns:a="http://schemas.openxmlformats.org/drawingml/2006/main">
            <a:pPr>
              <a:defRPr sz="1875" b="0">
                <a:solidFill>
                  <a:srgbClr val="667561"/>
                </a:solidFill>
                <a:latin typeface="DM Sans"/>
                <a:ea typeface="DM Sans"/>
                <a:cs typeface="DM Sans"/>
              </a:defRPr>
            </a:pPr>
            <a:r>
              <a:rPr sz="1875" b="0">
                <a:solidFill>
                  <a:srgbClr val="667561"/>
                </a:solidFill>
                <a:latin typeface="DM Sans"/>
                <a:ea typeface="DM Sans"/>
                <a:cs typeface="DM Sans"/>
              </a:rPr>
              <a:t>Measured moisture history</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fcea5ddde08a4ccb"/>
          <a:stretch xmlns:a="http://schemas.openxmlformats.org/drawingml/2006/main"/>
        </p:blipFill>
        <p:spPr>
          <a:xfrm xmlns:a="http://schemas.openxmlformats.org/drawingml/2006/main">
            <a:off x="4590252" y="1533525"/>
            <a:ext cx="6707196" cy="4448175"/>
          </a:xfrm>
          <a:prstGeom xmlns:a="http://schemas.openxmlformats.org/drawingml/2006/main" prst="rect">
            <a:avLst/>
          </a:prstGeom>
        </p:spPr>
      </p:pic>
      <p:sp>
        <p:nvSpPr>
          <p:cNvPr id="5" name="Kavu    04">
            <a:extLst xmlns:a="http://schemas.openxmlformats.org/drawingml/2006/main">
              <a:ext uri="{FF2B5EF4-FFF2-40B4-BE49-F238E27FC236}">
                <a16:creationId xmlns:a16="http://schemas.microsoft.com/office/drawing/2014/main" id="{7FBCCF95-D192-4C9E-86F1-D0C73F58EEBE}"/>
              </a:ext>
            </a:extLst>
          </p:cNvPr>
          <p:cNvSpPr>
            <a:spLocks xmlns:a="http://schemas.openxmlformats.org/drawingml/2006/main" noGrp="1"/>
          </p:cNvSpPr>
          <p:nvPr/>
        </p:nvSpPr>
        <p:spPr>
          <a:xfrm xmlns:a="http://schemas.openxmlformats.org/drawingml/2006/main">
            <a:off x="685800" y="6334125"/>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667561"/>
                </a:solidFill>
                <a:latin typeface="DM Sans"/>
                <a:ea typeface="DM Sans"/>
                <a:cs typeface="DM Sans"/>
              </a:defRPr>
            </a:pPr>
            <a:r>
              <a:rPr sz="1200" b="0">
                <a:solidFill>
                  <a:srgbClr val="667561"/>
                </a:solidFill>
                <a:latin typeface="DM Sans"/>
                <a:ea typeface="DM Sans"/>
                <a:cs typeface="DM Sans"/>
              </a:rPr>
              <a:t>Kavu    04</a:t>
            </a:r>
          </a:p>
        </p:txBody>
      </p:sp>
    </p:spTree>
    <p:extLst>
      <p:ext uri="{BB962C8B-B14F-4D97-AF65-F5344CB8AC3E}">
        <p14:creationId xmlns:p14="http://schemas.microsoft.com/office/powerpoint/2010/main" val="581916715"/>
      </p:ext>
    </p:extLst>
  </p:cSld>
</p:sld>
</file>

<file path=ppt/slides/slide5.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16" name="A measurement closes each decision">
            <a:extLst xmlns:a="http://schemas.openxmlformats.org/drawingml/2006/main">
              <a:ext uri="{FF2B5EF4-FFF2-40B4-BE49-F238E27FC236}">
                <a16:creationId xmlns:a16="http://schemas.microsoft.com/office/drawing/2014/main" id="{57B825D5-D668-4D84-8D85-95F16D7ABBC3}"/>
              </a:ext>
            </a:extLst>
          </p:cNvPr>
          <p:cNvSpPr>
            <a:spLocks xmlns:a="http://schemas.openxmlformats.org/drawingml/2006/main" noGrp="1"/>
          </p:cNvSpPr>
          <p:nvPr/>
        </p:nvSpPr>
        <p:spPr>
          <a:xfrm xmlns:a="http://schemas.openxmlformats.org/drawingml/2006/main">
            <a:off x="685800" y="514350"/>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244D37"/>
                </a:solidFill>
                <a:latin typeface="Manrope"/>
                <a:ea typeface="Manrope"/>
                <a:cs typeface="Manrope"/>
              </a:defRPr>
            </a:pPr>
            <a:r>
              <a:rPr sz="3600" b="1">
                <a:solidFill>
                  <a:srgbClr val="244D37"/>
                </a:solidFill>
                <a:latin typeface="Manrope"/>
                <a:ea typeface="Manrope"/>
                <a:cs typeface="Manrope"/>
              </a:rPr>
              <a:t>A measurement closes each decision</a:t>
            </a:r>
          </a:p>
        </p:txBody>
      </p:sp>
      <p:sp>
        <p:nvSpPr>
          <p:cNvPr id="2" name="01">
            <a:extLst xmlns:a="http://schemas.openxmlformats.org/drawingml/2006/main">
              <a:ext uri="{FF2B5EF4-FFF2-40B4-BE49-F238E27FC236}">
                <a16:creationId xmlns:a16="http://schemas.microsoft.com/office/drawing/2014/main" id="{156F3AC1-2047-4C07-AD96-8C64D92B2CA4}"/>
              </a:ext>
            </a:extLst>
          </p:cNvPr>
          <p:cNvSpPr>
            <a:spLocks xmlns:a="http://schemas.openxmlformats.org/drawingml/2006/main" noGrp="1"/>
          </p:cNvSpPr>
          <p:nvPr/>
        </p:nvSpPr>
        <p:spPr>
          <a:xfrm xmlns:a="http://schemas.openxmlformats.org/drawingml/2006/main">
            <a:off x="685800" y="2038350"/>
            <a:ext cx="238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1">
                <a:solidFill>
                  <a:srgbClr val="D0A650"/>
                </a:solidFill>
                <a:latin typeface="Manrope"/>
                <a:ea typeface="Manrope"/>
                <a:cs typeface="Manrope"/>
              </a:defRPr>
            </a:pPr>
            <a:r>
              <a:rPr sz="4050" b="1">
                <a:solidFill>
                  <a:srgbClr val="D0A650"/>
                </a:solidFill>
                <a:latin typeface="Manrope"/>
                <a:ea typeface="Manrope"/>
                <a:cs typeface="Manrope"/>
              </a:rPr>
              <a:t>01</a:t>
            </a:r>
          </a:p>
        </p:txBody>
      </p:sp>
      <p:sp>
        <p:nvSpPr>
          <p:cNvPr id="3" name="Record the lot">
            <a:extLst xmlns:a="http://schemas.openxmlformats.org/drawingml/2006/main">
              <a:ext uri="{FF2B5EF4-FFF2-40B4-BE49-F238E27FC236}">
                <a16:creationId xmlns:a16="http://schemas.microsoft.com/office/drawing/2014/main" id="{3BCB911B-FEDD-4CFF-930E-21FF21F9312A}"/>
              </a:ext>
            </a:extLst>
          </p:cNvPr>
          <p:cNvSpPr>
            <a:spLocks xmlns:a="http://schemas.openxmlformats.org/drawingml/2006/main" noGrp="1"/>
          </p:cNvSpPr>
          <p:nvPr/>
        </p:nvSpPr>
        <p:spPr>
          <a:xfrm xmlns:a="http://schemas.openxmlformats.org/drawingml/2006/main">
            <a:off x="685800" y="2981325"/>
            <a:ext cx="247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325" b="1">
                <a:solidFill>
                  <a:srgbClr val="244D37"/>
                </a:solidFill>
                <a:latin typeface="DM Sans"/>
                <a:ea typeface="DM Sans"/>
                <a:cs typeface="DM Sans"/>
              </a:defRPr>
            </a:pPr>
            <a:r>
              <a:rPr sz="2325" b="1">
                <a:solidFill>
                  <a:srgbClr val="244D37"/>
                </a:solidFill>
                <a:latin typeface="DM Sans"/>
                <a:ea typeface="DM Sans"/>
                <a:cs typeface="DM Sans"/>
              </a:rPr>
              <a:t>Record the lot</a:t>
            </a:r>
          </a:p>
        </p:txBody>
      </p:sp>
      <p:sp>
        <p:nvSpPr>
          <p:cNvPr id="4" name="Mass, measured moisture&#10;and a configured targ">
            <a:extLst xmlns:a="http://schemas.openxmlformats.org/drawingml/2006/main">
              <a:ext uri="{FF2B5EF4-FFF2-40B4-BE49-F238E27FC236}">
                <a16:creationId xmlns:a16="http://schemas.microsoft.com/office/drawing/2014/main" id="{459393FD-0132-40FE-8A0C-9EE5E766359E}"/>
              </a:ext>
            </a:extLst>
          </p:cNvPr>
          <p:cNvSpPr>
            <a:spLocks xmlns:a="http://schemas.openxmlformats.org/drawingml/2006/main" noGrp="1"/>
          </p:cNvSpPr>
          <p:nvPr/>
        </p:nvSpPr>
        <p:spPr>
          <a:xfrm xmlns:a="http://schemas.openxmlformats.org/drawingml/2006/main">
            <a:off x="685800" y="3933825"/>
            <a:ext cx="24098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667561"/>
                </a:solidFill>
                <a:latin typeface="DM Sans"/>
                <a:ea typeface="DM Sans"/>
                <a:cs typeface="DM Sans"/>
              </a:defRPr>
            </a:pPr>
            <a:r>
              <a:rPr sz="1875" b="0">
                <a:solidFill>
                  <a:srgbClr val="667561"/>
                </a:solidFill>
                <a:latin typeface="DM Sans"/>
                <a:ea typeface="DM Sans"/>
                <a:cs typeface="DM Sans"/>
              </a:rPr>
              <a:t>Mass, measured moisture</a:t>
            </a:r>
          </a:p>
          <a:p xmlns:a="http://schemas.openxmlformats.org/drawingml/2006/main">
            <a:pPr>
              <a:defRPr sz="1875" b="0">
                <a:solidFill>
                  <a:srgbClr val="667561"/>
                </a:solidFill>
                <a:latin typeface="DM Sans"/>
                <a:ea typeface="DM Sans"/>
                <a:cs typeface="DM Sans"/>
              </a:defRPr>
            </a:pPr>
            <a:r>
              <a:rPr sz="1875" b="0">
                <a:solidFill>
                  <a:srgbClr val="667561"/>
                </a:solidFill>
                <a:latin typeface="DM Sans"/>
                <a:ea typeface="DM Sans"/>
                <a:cs typeface="DM Sans"/>
              </a:rPr>
              <a:t>and a configured target.</a:t>
            </a:r>
          </a:p>
        </p:txBody>
      </p:sp>
      <p:sp>
        <p:nvSpPr>
          <p:cNvPr id="5" name="02">
            <a:extLst xmlns:a="http://schemas.openxmlformats.org/drawingml/2006/main">
              <a:ext uri="{FF2B5EF4-FFF2-40B4-BE49-F238E27FC236}">
                <a16:creationId xmlns:a16="http://schemas.microsoft.com/office/drawing/2014/main" id="{EE7F38EA-6ACA-4C41-A206-F91E307B38F7}"/>
              </a:ext>
            </a:extLst>
          </p:cNvPr>
          <p:cNvSpPr>
            <a:spLocks xmlns:a="http://schemas.openxmlformats.org/drawingml/2006/main" noGrp="1"/>
          </p:cNvSpPr>
          <p:nvPr/>
        </p:nvSpPr>
        <p:spPr>
          <a:xfrm xmlns:a="http://schemas.openxmlformats.org/drawingml/2006/main">
            <a:off x="3495675" y="2038350"/>
            <a:ext cx="238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1">
                <a:solidFill>
                  <a:srgbClr val="D0A650"/>
                </a:solidFill>
                <a:latin typeface="Manrope"/>
                <a:ea typeface="Manrope"/>
                <a:cs typeface="Manrope"/>
              </a:defRPr>
            </a:pPr>
            <a:r>
              <a:rPr sz="4050" b="1">
                <a:solidFill>
                  <a:srgbClr val="D0A650"/>
                </a:solidFill>
                <a:latin typeface="Manrope"/>
                <a:ea typeface="Manrope"/>
                <a:cs typeface="Manrope"/>
              </a:rPr>
              <a:t>02</a:t>
            </a:r>
          </a:p>
        </p:txBody>
      </p:sp>
      <p:sp>
        <p:nvSpPr>
          <p:cNvPr id="6" name="Assign the work">
            <a:extLst xmlns:a="http://schemas.openxmlformats.org/drawingml/2006/main">
              <a:ext uri="{FF2B5EF4-FFF2-40B4-BE49-F238E27FC236}">
                <a16:creationId xmlns:a16="http://schemas.microsoft.com/office/drawing/2014/main" id="{A8422A25-B357-4826-B4B6-11A05C42160C}"/>
              </a:ext>
            </a:extLst>
          </p:cNvPr>
          <p:cNvSpPr>
            <a:spLocks xmlns:a="http://schemas.openxmlformats.org/drawingml/2006/main" noGrp="1"/>
          </p:cNvSpPr>
          <p:nvPr/>
        </p:nvSpPr>
        <p:spPr>
          <a:xfrm xmlns:a="http://schemas.openxmlformats.org/drawingml/2006/main">
            <a:off x="3495675" y="2981325"/>
            <a:ext cx="247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325" b="1">
                <a:solidFill>
                  <a:srgbClr val="244D37"/>
                </a:solidFill>
                <a:latin typeface="DM Sans"/>
                <a:ea typeface="DM Sans"/>
                <a:cs typeface="DM Sans"/>
              </a:defRPr>
            </a:pPr>
            <a:r>
              <a:rPr sz="2325" b="1">
                <a:solidFill>
                  <a:srgbClr val="244D37"/>
                </a:solidFill>
                <a:latin typeface="DM Sans"/>
                <a:ea typeface="DM Sans"/>
                <a:cs typeface="DM Sans"/>
              </a:rPr>
              <a:t>Assign the work</a:t>
            </a:r>
          </a:p>
        </p:txBody>
      </p:sp>
      <p:sp>
        <p:nvSpPr>
          <p:cNvPr id="7" name="Environmental evidence&#10;and available capacity">
            <a:extLst xmlns:a="http://schemas.openxmlformats.org/drawingml/2006/main">
              <a:ext uri="{FF2B5EF4-FFF2-40B4-BE49-F238E27FC236}">
                <a16:creationId xmlns:a16="http://schemas.microsoft.com/office/drawing/2014/main" id="{C82FCBEA-1B83-4CDD-9254-17090F1EEB63}"/>
              </a:ext>
            </a:extLst>
          </p:cNvPr>
          <p:cNvSpPr>
            <a:spLocks xmlns:a="http://schemas.openxmlformats.org/drawingml/2006/main" noGrp="1"/>
          </p:cNvSpPr>
          <p:nvPr/>
        </p:nvSpPr>
        <p:spPr>
          <a:xfrm xmlns:a="http://schemas.openxmlformats.org/drawingml/2006/main">
            <a:off x="3495675" y="3933825"/>
            <a:ext cx="24098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667561"/>
                </a:solidFill>
                <a:latin typeface="DM Sans"/>
                <a:ea typeface="DM Sans"/>
                <a:cs typeface="DM Sans"/>
              </a:defRPr>
            </a:pPr>
            <a:r>
              <a:rPr sz="1875" b="0">
                <a:solidFill>
                  <a:srgbClr val="667561"/>
                </a:solidFill>
                <a:latin typeface="DM Sans"/>
                <a:ea typeface="DM Sans"/>
                <a:cs typeface="DM Sans"/>
              </a:rPr>
              <a:t>Environmental evidence</a:t>
            </a:r>
          </a:p>
          <a:p xmlns:a="http://schemas.openxmlformats.org/drawingml/2006/main">
            <a:pPr>
              <a:defRPr sz="1875" b="0">
                <a:solidFill>
                  <a:srgbClr val="667561"/>
                </a:solidFill>
                <a:latin typeface="DM Sans"/>
                <a:ea typeface="DM Sans"/>
                <a:cs typeface="DM Sans"/>
              </a:defRPr>
            </a:pPr>
            <a:r>
              <a:rPr sz="1875" b="0">
                <a:solidFill>
                  <a:srgbClr val="667561"/>
                </a:solidFill>
                <a:latin typeface="DM Sans"/>
                <a:ea typeface="DM Sans"/>
                <a:cs typeface="DM Sans"/>
              </a:rPr>
              <a:t>and available capacity.</a:t>
            </a:r>
          </a:p>
        </p:txBody>
      </p:sp>
      <p:sp>
        <p:nvSpPr>
          <p:cNvPr id="8" name="03">
            <a:extLst xmlns:a="http://schemas.openxmlformats.org/drawingml/2006/main">
              <a:ext uri="{FF2B5EF4-FFF2-40B4-BE49-F238E27FC236}">
                <a16:creationId xmlns:a16="http://schemas.microsoft.com/office/drawing/2014/main" id="{F703B550-D5BA-4E8C-8CC1-CFB4DACBD51B}"/>
              </a:ext>
            </a:extLst>
          </p:cNvPr>
          <p:cNvSpPr>
            <a:spLocks xmlns:a="http://schemas.openxmlformats.org/drawingml/2006/main" noGrp="1"/>
          </p:cNvSpPr>
          <p:nvPr/>
        </p:nvSpPr>
        <p:spPr>
          <a:xfrm xmlns:a="http://schemas.openxmlformats.org/drawingml/2006/main">
            <a:off x="6305550" y="2038350"/>
            <a:ext cx="238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1">
                <a:solidFill>
                  <a:srgbClr val="D0A650"/>
                </a:solidFill>
                <a:latin typeface="Manrope"/>
                <a:ea typeface="Manrope"/>
                <a:cs typeface="Manrope"/>
              </a:defRPr>
            </a:pPr>
            <a:r>
              <a:rPr sz="4050" b="1">
                <a:solidFill>
                  <a:srgbClr val="D0A650"/>
                </a:solidFill>
                <a:latin typeface="Manrope"/>
                <a:ea typeface="Manrope"/>
                <a:cs typeface="Manrope"/>
              </a:rPr>
              <a:t>03</a:t>
            </a:r>
          </a:p>
        </p:txBody>
      </p:sp>
      <p:sp>
        <p:nvSpPr>
          <p:cNvPr id="9" name="Log a new reading">
            <a:extLst xmlns:a="http://schemas.openxmlformats.org/drawingml/2006/main">
              <a:ext uri="{FF2B5EF4-FFF2-40B4-BE49-F238E27FC236}">
                <a16:creationId xmlns:a16="http://schemas.microsoft.com/office/drawing/2014/main" id="{A27FA791-DBAF-4D1E-81CD-243689E88E11}"/>
              </a:ext>
            </a:extLst>
          </p:cNvPr>
          <p:cNvSpPr>
            <a:spLocks xmlns:a="http://schemas.openxmlformats.org/drawingml/2006/main" noGrp="1"/>
          </p:cNvSpPr>
          <p:nvPr/>
        </p:nvSpPr>
        <p:spPr>
          <a:xfrm xmlns:a="http://schemas.openxmlformats.org/drawingml/2006/main">
            <a:off x="6305550" y="2981325"/>
            <a:ext cx="247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325" b="1">
                <a:solidFill>
                  <a:srgbClr val="244D37"/>
                </a:solidFill>
                <a:latin typeface="DM Sans"/>
                <a:ea typeface="DM Sans"/>
                <a:cs typeface="DM Sans"/>
              </a:defRPr>
            </a:pPr>
            <a:r>
              <a:rPr sz="2325" b="1">
                <a:solidFill>
                  <a:srgbClr val="244D37"/>
                </a:solidFill>
                <a:latin typeface="DM Sans"/>
                <a:ea typeface="DM Sans"/>
                <a:cs typeface="DM Sans"/>
              </a:rPr>
              <a:t>Log a new reading</a:t>
            </a:r>
          </a:p>
        </p:txBody>
      </p:sp>
      <p:sp>
        <p:nvSpPr>
          <p:cNvPr id="10" name="A person measures the grain&#10;after the handlin">
            <a:extLst xmlns:a="http://schemas.openxmlformats.org/drawingml/2006/main">
              <a:ext uri="{FF2B5EF4-FFF2-40B4-BE49-F238E27FC236}">
                <a16:creationId xmlns:a16="http://schemas.microsoft.com/office/drawing/2014/main" id="{F5A43202-3AD7-4066-B868-4310CBB00A37}"/>
              </a:ext>
            </a:extLst>
          </p:cNvPr>
          <p:cNvSpPr>
            <a:spLocks xmlns:a="http://schemas.openxmlformats.org/drawingml/2006/main" noGrp="1"/>
          </p:cNvSpPr>
          <p:nvPr/>
        </p:nvSpPr>
        <p:spPr>
          <a:xfrm xmlns:a="http://schemas.openxmlformats.org/drawingml/2006/main">
            <a:off x="6305550" y="3933825"/>
            <a:ext cx="24098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667561"/>
                </a:solidFill>
                <a:latin typeface="DM Sans"/>
                <a:ea typeface="DM Sans"/>
                <a:cs typeface="DM Sans"/>
              </a:defRPr>
            </a:pPr>
            <a:r>
              <a:rPr sz="1875" b="0">
                <a:solidFill>
                  <a:srgbClr val="667561"/>
                </a:solidFill>
                <a:latin typeface="DM Sans"/>
                <a:ea typeface="DM Sans"/>
                <a:cs typeface="DM Sans"/>
              </a:rPr>
              <a:t>A person measures the grain</a:t>
            </a:r>
          </a:p>
          <a:p xmlns:a="http://schemas.openxmlformats.org/drawingml/2006/main">
            <a:pPr>
              <a:defRPr sz="1875" b="0">
                <a:solidFill>
                  <a:srgbClr val="667561"/>
                </a:solidFill>
                <a:latin typeface="DM Sans"/>
                <a:ea typeface="DM Sans"/>
                <a:cs typeface="DM Sans"/>
              </a:defRPr>
            </a:pPr>
            <a:r>
              <a:rPr sz="1875" b="0">
                <a:solidFill>
                  <a:srgbClr val="667561"/>
                </a:solidFill>
                <a:latin typeface="DM Sans"/>
                <a:ea typeface="DM Sans"/>
                <a:cs typeface="DM Sans"/>
              </a:rPr>
              <a:t>after the handling work.</a:t>
            </a:r>
          </a:p>
        </p:txBody>
      </p:sp>
      <p:sp>
        <p:nvSpPr>
          <p:cNvPr id="11" name="04">
            <a:extLst xmlns:a="http://schemas.openxmlformats.org/drawingml/2006/main">
              <a:ext uri="{FF2B5EF4-FFF2-40B4-BE49-F238E27FC236}">
                <a16:creationId xmlns:a16="http://schemas.microsoft.com/office/drawing/2014/main" id="{187800F6-D2E2-4C82-AABB-B495D8DDDA9C}"/>
              </a:ext>
            </a:extLst>
          </p:cNvPr>
          <p:cNvSpPr>
            <a:spLocks xmlns:a="http://schemas.openxmlformats.org/drawingml/2006/main" noGrp="1"/>
          </p:cNvSpPr>
          <p:nvPr/>
        </p:nvSpPr>
        <p:spPr>
          <a:xfrm xmlns:a="http://schemas.openxmlformats.org/drawingml/2006/main">
            <a:off x="9115425" y="2038350"/>
            <a:ext cx="238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1">
                <a:solidFill>
                  <a:srgbClr val="D0A650"/>
                </a:solidFill>
                <a:latin typeface="Manrope"/>
                <a:ea typeface="Manrope"/>
                <a:cs typeface="Manrope"/>
              </a:defRPr>
            </a:pPr>
            <a:r>
              <a:rPr sz="4050" b="1">
                <a:solidFill>
                  <a:srgbClr val="D0A650"/>
                </a:solidFill>
                <a:latin typeface="Manrope"/>
                <a:ea typeface="Manrope"/>
                <a:cs typeface="Manrope"/>
              </a:rPr>
              <a:t>04</a:t>
            </a:r>
          </a:p>
        </p:txBody>
      </p:sp>
      <p:sp>
        <p:nvSpPr>
          <p:cNvPr id="12" name="Review the lot">
            <a:extLst xmlns:a="http://schemas.openxmlformats.org/drawingml/2006/main">
              <a:ext uri="{FF2B5EF4-FFF2-40B4-BE49-F238E27FC236}">
                <a16:creationId xmlns:a16="http://schemas.microsoft.com/office/drawing/2014/main" id="{1CF6B03A-520B-489A-A3CB-3FFE4E7DFCC2}"/>
              </a:ext>
            </a:extLst>
          </p:cNvPr>
          <p:cNvSpPr>
            <a:spLocks xmlns:a="http://schemas.openxmlformats.org/drawingml/2006/main" noGrp="1"/>
          </p:cNvSpPr>
          <p:nvPr/>
        </p:nvSpPr>
        <p:spPr>
          <a:xfrm xmlns:a="http://schemas.openxmlformats.org/drawingml/2006/main">
            <a:off x="9115425" y="2981325"/>
            <a:ext cx="247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325" b="1">
                <a:solidFill>
                  <a:srgbClr val="244D37"/>
                </a:solidFill>
                <a:latin typeface="DM Sans"/>
                <a:ea typeface="DM Sans"/>
                <a:cs typeface="DM Sans"/>
              </a:defRPr>
            </a:pPr>
            <a:r>
              <a:rPr sz="2325" b="1">
                <a:solidFill>
                  <a:srgbClr val="244D37"/>
                </a:solidFill>
                <a:latin typeface="DM Sans"/>
                <a:ea typeface="DM Sans"/>
                <a:cs typeface="DM Sans"/>
              </a:rPr>
              <a:t>Review the lot</a:t>
            </a:r>
          </a:p>
        </p:txBody>
      </p:sp>
      <p:sp>
        <p:nvSpPr>
          <p:cNvPr id="13" name="Recent moisture at target&#10;permits storage rev">
            <a:extLst xmlns:a="http://schemas.openxmlformats.org/drawingml/2006/main">
              <a:ext uri="{FF2B5EF4-FFF2-40B4-BE49-F238E27FC236}">
                <a16:creationId xmlns:a16="http://schemas.microsoft.com/office/drawing/2014/main" id="{A37C97CA-FEA0-4EA2-95D8-68A03573E6D5}"/>
              </a:ext>
            </a:extLst>
          </p:cNvPr>
          <p:cNvSpPr>
            <a:spLocks xmlns:a="http://schemas.openxmlformats.org/drawingml/2006/main" noGrp="1"/>
          </p:cNvSpPr>
          <p:nvPr/>
        </p:nvSpPr>
        <p:spPr>
          <a:xfrm xmlns:a="http://schemas.openxmlformats.org/drawingml/2006/main">
            <a:off x="9115425" y="3933825"/>
            <a:ext cx="24098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667561"/>
                </a:solidFill>
                <a:latin typeface="DM Sans"/>
                <a:ea typeface="DM Sans"/>
                <a:cs typeface="DM Sans"/>
              </a:defRPr>
            </a:pPr>
            <a:r>
              <a:rPr sz="1875" b="0">
                <a:solidFill>
                  <a:srgbClr val="667561"/>
                </a:solidFill>
                <a:latin typeface="DM Sans"/>
                <a:ea typeface="DM Sans"/>
                <a:cs typeface="DM Sans"/>
              </a:rPr>
              <a:t>Recent moisture at target</a:t>
            </a:r>
          </a:p>
          <a:p xmlns:a="http://schemas.openxmlformats.org/drawingml/2006/main">
            <a:pPr>
              <a:defRPr sz="1875" b="0">
                <a:solidFill>
                  <a:srgbClr val="667561"/>
                </a:solidFill>
                <a:latin typeface="DM Sans"/>
                <a:ea typeface="DM Sans"/>
                <a:cs typeface="DM Sans"/>
              </a:defRPr>
            </a:pPr>
            <a:r>
              <a:rPr sz="1875" b="0">
                <a:solidFill>
                  <a:srgbClr val="667561"/>
                </a:solidFill>
                <a:latin typeface="DM Sans"/>
                <a:ea typeface="DM Sans"/>
                <a:cs typeface="DM Sans"/>
              </a:rPr>
              <a:t>permits storage review.</a:t>
            </a:r>
          </a:p>
        </p:txBody>
      </p:sp>
      <p:sp>
        <p:nvSpPr>
          <p:cNvPr id="14" name="Weather suitability is an operating heuristic">
            <a:extLst xmlns:a="http://schemas.openxmlformats.org/drawingml/2006/main">
              <a:ext uri="{FF2B5EF4-FFF2-40B4-BE49-F238E27FC236}">
                <a16:creationId xmlns:a16="http://schemas.microsoft.com/office/drawing/2014/main" id="{0206C309-9C04-47EE-BBB0-31C67E0C1B6F}"/>
              </a:ext>
            </a:extLst>
          </p:cNvPr>
          <p:cNvSpPr>
            <a:spLocks xmlns:a="http://schemas.openxmlformats.org/drawingml/2006/main" noGrp="1"/>
          </p:cNvSpPr>
          <p:nvPr/>
        </p:nvSpPr>
        <p:spPr>
          <a:xfrm xmlns:a="http://schemas.openxmlformats.org/drawingml/2006/main">
            <a:off x="714375" y="556260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244D37"/>
                </a:solidFill>
                <a:latin typeface="DM Sans"/>
                <a:ea typeface="DM Sans"/>
                <a:cs typeface="DM Sans"/>
              </a:defRPr>
            </a:pPr>
            <a:r>
              <a:rPr sz="1800" b="0">
                <a:solidFill>
                  <a:srgbClr val="244D37"/>
                </a:solidFill>
                <a:latin typeface="DM Sans"/>
                <a:ea typeface="DM Sans"/>
                <a:cs typeface="DM Sans"/>
              </a:rPr>
              <a:t>Weather suitability is an operating heuristic. Moisture review does not certify food safety.</a:t>
            </a:r>
          </a:p>
        </p:txBody>
      </p:sp>
      <p:sp>
        <p:nvSpPr>
          <p:cNvPr id="15" name="Kavu    05">
            <a:extLst xmlns:a="http://schemas.openxmlformats.org/drawingml/2006/main">
              <a:ext uri="{FF2B5EF4-FFF2-40B4-BE49-F238E27FC236}">
                <a16:creationId xmlns:a16="http://schemas.microsoft.com/office/drawing/2014/main" id="{6EB5ACE8-1B4C-4FF7-B52C-08261FD68803}"/>
              </a:ext>
            </a:extLst>
          </p:cNvPr>
          <p:cNvSpPr>
            <a:spLocks xmlns:a="http://schemas.openxmlformats.org/drawingml/2006/main" noGrp="1"/>
          </p:cNvSpPr>
          <p:nvPr/>
        </p:nvSpPr>
        <p:spPr>
          <a:xfrm xmlns:a="http://schemas.openxmlformats.org/drawingml/2006/main">
            <a:off x="685800" y="6334125"/>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667561"/>
                </a:solidFill>
                <a:latin typeface="DM Sans"/>
                <a:ea typeface="DM Sans"/>
                <a:cs typeface="DM Sans"/>
              </a:defRPr>
            </a:pPr>
            <a:r>
              <a:rPr sz="1200" b="0">
                <a:solidFill>
                  <a:srgbClr val="667561"/>
                </a:solidFill>
                <a:latin typeface="DM Sans"/>
                <a:ea typeface="DM Sans"/>
                <a:cs typeface="DM Sans"/>
              </a:rPr>
              <a:t>Kavu    05</a:t>
            </a:r>
          </a:p>
        </p:txBody>
      </p:sp>
    </p:spTree>
    <p:extLst>
      <p:ext uri="{BB962C8B-B14F-4D97-AF65-F5344CB8AC3E}">
        <p14:creationId xmlns:p14="http://schemas.microsoft.com/office/powerpoint/2010/main" val="986285481"/>
      </p:ext>
    </p:extLst>
  </p:cSld>
</p:sld>
</file>

<file path=ppt/slides/slide6.xml><?xml version="1.0" encoding="utf-8"?>
<p:sld xmlns:p="http://schemas.openxmlformats.org/presentationml/2006/main">
  <p:cSld>
    <p:bg>
      <p:bgPr>
        <a:solidFill xmlns:a="http://schemas.openxmlformats.org/drawingml/2006/main">
          <a:srgbClr val="D0A650"/>
        </a:solidFill>
      </p:bgPr>
    </p:bg>
    <p:spTree>
      <p:nvGrpSpPr>
        <p:cNvPr id="1" name=""/>
        <p:cNvGrpSpPr/>
        <p:nvPr/>
      </p:nvGrpSpPr>
      <p:grpSpPr>
        <a:xfrm xmlns:a="http://schemas.openxmlformats.org/drawingml/2006/main"/>
      </p:grpSpPr>
      <p:sp>
        <p:nvSpPr>
          <p:cNvPr id="7" name="The economics of one example">
            <a:extLst xmlns:a="http://schemas.openxmlformats.org/drawingml/2006/main">
              <a:ext uri="{FF2B5EF4-FFF2-40B4-BE49-F238E27FC236}">
                <a16:creationId xmlns:a16="http://schemas.microsoft.com/office/drawing/2014/main" id="{5C05B8CF-17E5-4577-9EED-29FCECFFABB3}"/>
              </a:ext>
            </a:extLst>
          </p:cNvPr>
          <p:cNvSpPr>
            <a:spLocks xmlns:a="http://schemas.openxmlformats.org/drawingml/2006/main" noGrp="1"/>
          </p:cNvSpPr>
          <p:nvPr/>
        </p:nvSpPr>
        <p:spPr>
          <a:xfrm xmlns:a="http://schemas.openxmlformats.org/drawingml/2006/main">
            <a:off x="685800" y="514350"/>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244D37"/>
                </a:solidFill>
                <a:latin typeface="Manrope"/>
                <a:ea typeface="Manrope"/>
                <a:cs typeface="Manrope"/>
              </a:defRPr>
            </a:pPr>
            <a:r>
              <a:rPr sz="3600" b="1">
                <a:solidFill>
                  <a:srgbClr val="244D37"/>
                </a:solidFill>
                <a:latin typeface="Manrope"/>
                <a:ea typeface="Manrope"/>
                <a:cs typeface="Manrope"/>
              </a:rPr>
              <a:t>The economics of one example</a:t>
            </a:r>
          </a:p>
        </p:txBody>
      </p:sp>
      <p:sp>
        <p:nvSpPr>
          <p:cNvPr id="2" name="KSh 3,778">
            <a:extLst xmlns:a="http://schemas.openxmlformats.org/drawingml/2006/main">
              <a:ext uri="{FF2B5EF4-FFF2-40B4-BE49-F238E27FC236}">
                <a16:creationId xmlns:a16="http://schemas.microsoft.com/office/drawing/2014/main" id="{1658E8FE-343D-441B-B81F-C9CA324892AA}"/>
              </a:ext>
            </a:extLst>
          </p:cNvPr>
          <p:cNvSpPr>
            <a:spLocks xmlns:a="http://schemas.openxmlformats.org/drawingml/2006/main" noGrp="1"/>
          </p:cNvSpPr>
          <p:nvPr/>
        </p:nvSpPr>
        <p:spPr>
          <a:xfrm xmlns:a="http://schemas.openxmlformats.org/drawingml/2006/main">
            <a:off x="685800" y="1809750"/>
            <a:ext cx="1066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7875" b="1">
                <a:solidFill>
                  <a:srgbClr val="244D37"/>
                </a:solidFill>
                <a:latin typeface="Manrope"/>
                <a:ea typeface="Manrope"/>
                <a:cs typeface="Manrope"/>
              </a:defRPr>
            </a:pPr>
            <a:r>
              <a:rPr sz="7875" b="1">
                <a:solidFill>
                  <a:srgbClr val="244D37"/>
                </a:solidFill>
                <a:latin typeface="Manrope"/>
                <a:ea typeface="Manrope"/>
                <a:cs typeface="Manrope"/>
              </a:rPr>
              <a:t>KSh 3,778</a:t>
            </a:r>
          </a:p>
        </p:txBody>
      </p:sp>
      <p:sp>
        <p:nvSpPr>
          <p:cNvPr id="3" name="Drying-tariff equivalent">
            <a:extLst xmlns:a="http://schemas.openxmlformats.org/drawingml/2006/main">
              <a:ext uri="{FF2B5EF4-FFF2-40B4-BE49-F238E27FC236}">
                <a16:creationId xmlns:a16="http://schemas.microsoft.com/office/drawing/2014/main" id="{74A529F0-9ABF-479F-89B9-D854FDE4D47B}"/>
              </a:ext>
            </a:extLst>
          </p:cNvPr>
          <p:cNvSpPr>
            <a:spLocks xmlns:a="http://schemas.openxmlformats.org/drawingml/2006/main" noGrp="1"/>
          </p:cNvSpPr>
          <p:nvPr/>
        </p:nvSpPr>
        <p:spPr>
          <a:xfrm xmlns:a="http://schemas.openxmlformats.org/drawingml/2006/main">
            <a:off x="762000" y="325755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1">
                <a:solidFill>
                  <a:srgbClr val="244D37"/>
                </a:solidFill>
                <a:latin typeface="DM Sans"/>
                <a:ea typeface="DM Sans"/>
                <a:cs typeface="DM Sans"/>
              </a:defRPr>
            </a:pPr>
            <a:r>
              <a:rPr sz="3000" b="1">
                <a:solidFill>
                  <a:srgbClr val="244D37"/>
                </a:solidFill>
                <a:latin typeface="DM Sans"/>
                <a:ea typeface="DM Sans"/>
                <a:cs typeface="DM Sans"/>
              </a:rPr>
              <a:t>Drying-tariff equivalent</a:t>
            </a:r>
          </a:p>
        </p:txBody>
      </p:sp>
      <p:sp>
        <p:nvSpPr>
          <p:cNvPr id="4" name="5 tonnes × 2 percentage points × KSh 377.80">
            <a:extLst xmlns:a="http://schemas.openxmlformats.org/drawingml/2006/main">
              <a:ext uri="{FF2B5EF4-FFF2-40B4-BE49-F238E27FC236}">
                <a16:creationId xmlns:a16="http://schemas.microsoft.com/office/drawing/2014/main" id="{ED4A4585-7F9B-45E4-8AB2-C80C866E7339}"/>
              </a:ext>
            </a:extLst>
          </p:cNvPr>
          <p:cNvSpPr>
            <a:spLocks xmlns:a="http://schemas.openxmlformats.org/drawingml/2006/main" noGrp="1"/>
          </p:cNvSpPr>
          <p:nvPr/>
        </p:nvSpPr>
        <p:spPr>
          <a:xfrm xmlns:a="http://schemas.openxmlformats.org/drawingml/2006/main">
            <a:off x="762000" y="4238625"/>
            <a:ext cx="10477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475" b="0">
                <a:solidFill>
                  <a:srgbClr val="244D37"/>
                </a:solidFill>
                <a:latin typeface="DM Sans"/>
                <a:ea typeface="DM Sans"/>
                <a:cs typeface="DM Sans"/>
              </a:defRPr>
            </a:pPr>
            <a:r>
              <a:rPr sz="2475" b="0">
                <a:solidFill>
                  <a:srgbClr val="244D37"/>
                </a:solidFill>
                <a:latin typeface="DM Sans"/>
                <a:ea typeface="DM Sans"/>
                <a:cs typeface="DM Sans"/>
              </a:rPr>
              <a:t>5 tonnes × 2 percentage points × KSh 377.80</a:t>
            </a:r>
          </a:p>
        </p:txBody>
      </p:sp>
      <p:sp>
        <p:nvSpPr>
          <p:cNvPr id="5" name="Example moisture: 17% to 15%&#10;Labour, transpor">
            <a:extLst xmlns:a="http://schemas.openxmlformats.org/drawingml/2006/main">
              <a:ext uri="{FF2B5EF4-FFF2-40B4-BE49-F238E27FC236}">
                <a16:creationId xmlns:a16="http://schemas.microsoft.com/office/drawing/2014/main" id="{D2F6FC4A-1D67-452F-BB42-6EEF7B1F10C2}"/>
              </a:ext>
            </a:extLst>
          </p:cNvPr>
          <p:cNvSpPr>
            <a:spLocks xmlns:a="http://schemas.openxmlformats.org/drawingml/2006/main" noGrp="1"/>
          </p:cNvSpPr>
          <p:nvPr/>
        </p:nvSpPr>
        <p:spPr>
          <a:xfrm xmlns:a="http://schemas.openxmlformats.org/drawingml/2006/main">
            <a:off x="781050" y="5172075"/>
            <a:ext cx="10382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0">
                <a:solidFill>
                  <a:srgbClr val="26392D"/>
                </a:solidFill>
                <a:latin typeface="DM Sans"/>
                <a:ea typeface="DM Sans"/>
                <a:cs typeface="DM Sans"/>
              </a:defRPr>
            </a:pPr>
            <a:r>
              <a:rPr sz="2025" b="0">
                <a:solidFill>
                  <a:srgbClr val="26392D"/>
                </a:solidFill>
                <a:latin typeface="DM Sans"/>
                <a:ea typeface="DM Sans"/>
                <a:cs typeface="DM Sans"/>
              </a:rPr>
              <a:t>Example moisture: 17% to 15%</a:t>
            </a:r>
          </a:p>
          <a:p xmlns:a="http://schemas.openxmlformats.org/drawingml/2006/main">
            <a:pPr>
              <a:defRPr sz="2025" b="0">
                <a:solidFill>
                  <a:srgbClr val="26392D"/>
                </a:solidFill>
                <a:latin typeface="DM Sans"/>
                <a:ea typeface="DM Sans"/>
                <a:cs typeface="DM Sans"/>
              </a:defRPr>
            </a:pPr>
            <a:r>
              <a:rPr sz="2025" b="0">
                <a:solidFill>
                  <a:srgbClr val="26392D"/>
                </a:solidFill>
                <a:latin typeface="DM Sans"/>
                <a:ea typeface="DM Sans"/>
                <a:cs typeface="DM Sans"/>
              </a:rPr>
              <a:t>Labour, transport and causal savings are outside this comparison.</a:t>
            </a:r>
          </a:p>
        </p:txBody>
      </p:sp>
      <p:sp>
        <p:nvSpPr>
          <p:cNvPr id="6" name="Kavu    06">
            <a:extLst xmlns:a="http://schemas.openxmlformats.org/drawingml/2006/main">
              <a:ext uri="{FF2B5EF4-FFF2-40B4-BE49-F238E27FC236}">
                <a16:creationId xmlns:a16="http://schemas.microsoft.com/office/drawing/2014/main" id="{17DA0C5F-AE6A-4F80-8BC1-17EE61CA3703}"/>
              </a:ext>
            </a:extLst>
          </p:cNvPr>
          <p:cNvSpPr>
            <a:spLocks xmlns:a="http://schemas.openxmlformats.org/drawingml/2006/main" noGrp="1"/>
          </p:cNvSpPr>
          <p:nvPr/>
        </p:nvSpPr>
        <p:spPr>
          <a:xfrm xmlns:a="http://schemas.openxmlformats.org/drawingml/2006/main">
            <a:off x="685800" y="6334125"/>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667561"/>
                </a:solidFill>
                <a:latin typeface="DM Sans"/>
                <a:ea typeface="DM Sans"/>
                <a:cs typeface="DM Sans"/>
              </a:defRPr>
            </a:pPr>
            <a:r>
              <a:rPr sz="1200" b="0">
                <a:solidFill>
                  <a:srgbClr val="667561"/>
                </a:solidFill>
                <a:latin typeface="DM Sans"/>
                <a:ea typeface="DM Sans"/>
                <a:cs typeface="DM Sans"/>
              </a:rPr>
              <a:t>Kavu    06</a:t>
            </a:r>
          </a:p>
        </p:txBody>
      </p:sp>
    </p:spTree>
    <p:extLst>
      <p:ext uri="{BB962C8B-B14F-4D97-AF65-F5344CB8AC3E}">
        <p14:creationId xmlns:p14="http://schemas.microsoft.com/office/powerpoint/2010/main" val="1007776328"/>
      </p:ext>
    </p:extLst>
  </p:cSld>
</p:sld>
</file>

<file path=ppt/slides/slide7.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9" name="A co-op buyer, a price to test">
            <a:extLst xmlns:a="http://schemas.openxmlformats.org/drawingml/2006/main">
              <a:ext uri="{FF2B5EF4-FFF2-40B4-BE49-F238E27FC236}">
                <a16:creationId xmlns:a16="http://schemas.microsoft.com/office/drawing/2014/main" id="{AF14EDAC-0870-4E18-A01C-A457499B505E}"/>
              </a:ext>
            </a:extLst>
          </p:cNvPr>
          <p:cNvSpPr>
            <a:spLocks xmlns:a="http://schemas.openxmlformats.org/drawingml/2006/main" noGrp="1"/>
          </p:cNvSpPr>
          <p:nvPr/>
        </p:nvSpPr>
        <p:spPr>
          <a:xfrm xmlns:a="http://schemas.openxmlformats.org/drawingml/2006/main">
            <a:off x="685800" y="514350"/>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244D37"/>
                </a:solidFill>
                <a:latin typeface="Manrope"/>
                <a:ea typeface="Manrope"/>
                <a:cs typeface="Manrope"/>
              </a:defRPr>
            </a:pPr>
            <a:r>
              <a:rPr sz="3600" b="1">
                <a:solidFill>
                  <a:srgbClr val="244D37"/>
                </a:solidFill>
                <a:latin typeface="Manrope"/>
                <a:ea typeface="Manrope"/>
                <a:cs typeface="Manrope"/>
              </a:rPr>
              <a:t>A co-op buyer, a price to test</a:t>
            </a:r>
          </a:p>
        </p:txBody>
      </p:sp>
      <p:sp>
        <p:nvSpPr>
          <p:cNvPr id="2" name="One supervisor.&#10;Many farmers’ lots.">
            <a:extLst xmlns:a="http://schemas.openxmlformats.org/drawingml/2006/main">
              <a:ext uri="{FF2B5EF4-FFF2-40B4-BE49-F238E27FC236}">
                <a16:creationId xmlns:a16="http://schemas.microsoft.com/office/drawing/2014/main" id="{E1B15978-91FB-4EE0-9B14-F4ECE7CB23BE}"/>
              </a:ext>
            </a:extLst>
          </p:cNvPr>
          <p:cNvSpPr>
            <a:spLocks xmlns:a="http://schemas.openxmlformats.org/drawingml/2006/main" noGrp="1"/>
          </p:cNvSpPr>
          <p:nvPr/>
        </p:nvSpPr>
        <p:spPr>
          <a:xfrm xmlns:a="http://schemas.openxmlformats.org/drawingml/2006/main">
            <a:off x="685800" y="1971675"/>
            <a:ext cx="5334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1">
                <a:solidFill>
                  <a:srgbClr val="244D37"/>
                </a:solidFill>
                <a:latin typeface="Manrope"/>
                <a:ea typeface="Manrope"/>
                <a:cs typeface="Manrope"/>
              </a:defRPr>
            </a:pPr>
            <a:r>
              <a:rPr sz="3750" b="1">
                <a:solidFill>
                  <a:srgbClr val="244D37"/>
                </a:solidFill>
                <a:latin typeface="Manrope"/>
                <a:ea typeface="Manrope"/>
                <a:cs typeface="Manrope"/>
              </a:rPr>
              <a:t>One supervisor.</a:t>
            </a:r>
          </a:p>
          <a:p xmlns:a="http://schemas.openxmlformats.org/drawingml/2006/main">
            <a:pPr>
              <a:defRPr sz="3750" b="1">
                <a:solidFill>
                  <a:srgbClr val="244D37"/>
                </a:solidFill>
                <a:latin typeface="Manrope"/>
                <a:ea typeface="Manrope"/>
                <a:cs typeface="Manrope"/>
              </a:defRPr>
            </a:pPr>
            <a:r>
              <a:rPr sz="3750" b="1">
                <a:solidFill>
                  <a:srgbClr val="244D37"/>
                </a:solidFill>
                <a:latin typeface="Manrope"/>
                <a:ea typeface="Manrope"/>
                <a:cs typeface="Manrope"/>
              </a:rPr>
              <a:t>Many farmers’ lots.</a:t>
            </a:r>
          </a:p>
        </p:txBody>
      </p:sp>
      <p:sp>
        <p:nvSpPr>
          <p:cNvPr id="3" name="The incumbent is a weather report&#10;and a noteb">
            <a:extLst xmlns:a="http://schemas.openxmlformats.org/drawingml/2006/main">
              <a:ext uri="{FF2B5EF4-FFF2-40B4-BE49-F238E27FC236}">
                <a16:creationId xmlns:a16="http://schemas.microsoft.com/office/drawing/2014/main" id="{5267A6F9-AE7A-4380-97ED-755296263373}"/>
              </a:ext>
            </a:extLst>
          </p:cNvPr>
          <p:cNvSpPr>
            <a:spLocks xmlns:a="http://schemas.openxmlformats.org/drawingml/2006/main" noGrp="1"/>
          </p:cNvSpPr>
          <p:nvPr/>
        </p:nvSpPr>
        <p:spPr>
          <a:xfrm xmlns:a="http://schemas.openxmlformats.org/drawingml/2006/main">
            <a:off x="723900" y="3790950"/>
            <a:ext cx="52578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75" b="0">
                <a:solidFill>
                  <a:srgbClr val="667561"/>
                </a:solidFill>
                <a:latin typeface="DM Sans"/>
                <a:ea typeface="DM Sans"/>
                <a:cs typeface="DM Sans"/>
              </a:defRPr>
            </a:pPr>
            <a:r>
              <a:rPr sz="2175" b="0">
                <a:solidFill>
                  <a:srgbClr val="667561"/>
                </a:solidFill>
                <a:latin typeface="DM Sans"/>
                <a:ea typeface="DM Sans"/>
                <a:cs typeface="DM Sans"/>
              </a:rPr>
              <a:t>The incumbent is a weather report</a:t>
            </a:r>
          </a:p>
          <a:p xmlns:a="http://schemas.openxmlformats.org/drawingml/2006/main">
            <a:pPr>
              <a:defRPr sz="2175" b="0">
                <a:solidFill>
                  <a:srgbClr val="667561"/>
                </a:solidFill>
                <a:latin typeface="DM Sans"/>
                <a:ea typeface="DM Sans"/>
                <a:cs typeface="DM Sans"/>
              </a:defRPr>
            </a:pPr>
            <a:r>
              <a:rPr sz="2175" b="0">
                <a:solidFill>
                  <a:srgbClr val="667561"/>
                </a:solidFill>
                <a:latin typeface="DM Sans"/>
                <a:ea typeface="DM Sans"/>
                <a:cs typeface="DM Sans"/>
              </a:rPr>
              <a:t>and a notebook. Kavu must earn its</a:t>
            </a:r>
          </a:p>
          <a:p xmlns:a="http://schemas.openxmlformats.org/drawingml/2006/main">
            <a:pPr>
              <a:defRPr sz="2175" b="0">
                <a:solidFill>
                  <a:srgbClr val="667561"/>
                </a:solidFill>
                <a:latin typeface="DM Sans"/>
                <a:ea typeface="DM Sans"/>
                <a:cs typeface="DM Sans"/>
              </a:defRPr>
            </a:pPr>
            <a:r>
              <a:rPr sz="2175" b="0">
                <a:solidFill>
                  <a:srgbClr val="667561"/>
                </a:solidFill>
                <a:latin typeface="DM Sans"/>
                <a:ea typeface="DM Sans"/>
                <a:cs typeface="DM Sans"/>
              </a:rPr>
              <a:t>place in that daily workflow.</a:t>
            </a:r>
          </a:p>
        </p:txBody>
      </p:sp>
      <p:sp>
        <p:nvSpPr>
          <p:cNvPr id="4" name="KSh 2,500">
            <a:extLst xmlns:a="http://schemas.openxmlformats.org/drawingml/2006/main">
              <a:ext uri="{FF2B5EF4-FFF2-40B4-BE49-F238E27FC236}">
                <a16:creationId xmlns:a16="http://schemas.microsoft.com/office/drawing/2014/main" id="{9AFCDB02-5DBC-4126-AE0A-6FD233D90078}"/>
              </a:ext>
            </a:extLst>
          </p:cNvPr>
          <p:cNvSpPr>
            <a:spLocks xmlns:a="http://schemas.openxmlformats.org/drawingml/2006/main" noGrp="1"/>
          </p:cNvSpPr>
          <p:nvPr/>
        </p:nvSpPr>
        <p:spPr>
          <a:xfrm xmlns:a="http://schemas.openxmlformats.org/drawingml/2006/main">
            <a:off x="7200900" y="2114550"/>
            <a:ext cx="43624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950" b="1">
                <a:solidFill>
                  <a:srgbClr val="244D37"/>
                </a:solidFill>
                <a:latin typeface="Manrope"/>
                <a:ea typeface="Manrope"/>
                <a:cs typeface="Manrope"/>
              </a:defRPr>
            </a:pPr>
            <a:r>
              <a:rPr sz="4950" b="1">
                <a:solidFill>
                  <a:srgbClr val="244D37"/>
                </a:solidFill>
                <a:latin typeface="Manrope"/>
                <a:ea typeface="Manrope"/>
                <a:cs typeface="Manrope"/>
              </a:rPr>
              <a:t>KSh 2,500</a:t>
            </a:r>
          </a:p>
        </p:txBody>
      </p:sp>
      <p:sp>
        <p:nvSpPr>
          <p:cNvPr id="5" name="per active month per site">
            <a:extLst xmlns:a="http://schemas.openxmlformats.org/drawingml/2006/main">
              <a:ext uri="{FF2B5EF4-FFF2-40B4-BE49-F238E27FC236}">
                <a16:creationId xmlns:a16="http://schemas.microsoft.com/office/drawing/2014/main" id="{60EE93C3-F235-4EE2-AD14-CEFAC76B7722}"/>
              </a:ext>
            </a:extLst>
          </p:cNvPr>
          <p:cNvSpPr>
            <a:spLocks xmlns:a="http://schemas.openxmlformats.org/drawingml/2006/main" noGrp="1"/>
          </p:cNvSpPr>
          <p:nvPr/>
        </p:nvSpPr>
        <p:spPr>
          <a:xfrm xmlns:a="http://schemas.openxmlformats.org/drawingml/2006/main">
            <a:off x="7239000" y="3048000"/>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667561"/>
                </a:solidFill>
                <a:latin typeface="DM Sans"/>
                <a:ea typeface="DM Sans"/>
                <a:cs typeface="DM Sans"/>
              </a:defRPr>
            </a:pPr>
            <a:r>
              <a:rPr sz="1950" b="0">
                <a:solidFill>
                  <a:srgbClr val="667561"/>
                </a:solidFill>
                <a:latin typeface="DM Sans"/>
                <a:ea typeface="DM Sans"/>
                <a:cs typeface="DM Sans"/>
              </a:rPr>
              <a:t>per active month per site</a:t>
            </a:r>
          </a:p>
        </p:txBody>
      </p:sp>
      <p:sp>
        <p:nvSpPr>
          <p:cNvPr id="6" name="Pricing hypothesis&#10;No paying customers claime">
            <a:extLst xmlns:a="http://schemas.openxmlformats.org/drawingml/2006/main">
              <a:ext uri="{FF2B5EF4-FFF2-40B4-BE49-F238E27FC236}">
                <a16:creationId xmlns:a16="http://schemas.microsoft.com/office/drawing/2014/main" id="{812C3AE3-6042-4CDC-A6E4-27F94D11FEC4}"/>
              </a:ext>
            </a:extLst>
          </p:cNvPr>
          <p:cNvSpPr>
            <a:spLocks xmlns:a="http://schemas.openxmlformats.org/drawingml/2006/main" noGrp="1"/>
          </p:cNvSpPr>
          <p:nvPr/>
        </p:nvSpPr>
        <p:spPr>
          <a:xfrm xmlns:a="http://schemas.openxmlformats.org/drawingml/2006/main">
            <a:off x="7239000" y="4124325"/>
            <a:ext cx="4238625"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244D37"/>
                </a:solidFill>
                <a:latin typeface="DM Sans"/>
                <a:ea typeface="DM Sans"/>
                <a:cs typeface="DM Sans"/>
              </a:defRPr>
            </a:pPr>
            <a:r>
              <a:rPr sz="2100" b="0">
                <a:solidFill>
                  <a:srgbClr val="244D37"/>
                </a:solidFill>
                <a:latin typeface="DM Sans"/>
                <a:ea typeface="DM Sans"/>
                <a:cs typeface="DM Sans"/>
              </a:rPr>
              <a:t>Pricing hypothesis</a:t>
            </a:r>
          </a:p>
          <a:p xmlns:a="http://schemas.openxmlformats.org/drawingml/2006/main">
            <a:pPr>
              <a:defRPr sz="2100" b="0">
                <a:solidFill>
                  <a:srgbClr val="244D37"/>
                </a:solidFill>
                <a:latin typeface="DM Sans"/>
                <a:ea typeface="DM Sans"/>
                <a:cs typeface="DM Sans"/>
              </a:defRPr>
            </a:pPr>
            <a:r>
              <a:rPr sz="2100" b="0">
                <a:solidFill>
                  <a:srgbClr val="244D37"/>
                </a:solidFill>
                <a:latin typeface="DM Sans"/>
                <a:ea typeface="DM Sans"/>
                <a:cs typeface="DM Sans"/>
              </a:rPr>
              <a:t>No paying customers claimed</a:t>
            </a:r>
          </a:p>
        </p:txBody>
      </p:sp>
      <p:sp>
        <p:nvSpPr>
          <p:cNvPr id="7" name="Complements moisture meters and dryers. Poten">
            <a:extLst xmlns:a="http://schemas.openxmlformats.org/drawingml/2006/main">
              <a:ext uri="{FF2B5EF4-FFF2-40B4-BE49-F238E27FC236}">
                <a16:creationId xmlns:a16="http://schemas.microsoft.com/office/drawing/2014/main" id="{707C04B1-2421-4E32-8086-F17ADBE69834}"/>
              </a:ext>
            </a:extLst>
          </p:cNvPr>
          <p:cNvSpPr>
            <a:spLocks xmlns:a="http://schemas.openxmlformats.org/drawingml/2006/main" noGrp="1"/>
          </p:cNvSpPr>
          <p:nvPr/>
        </p:nvSpPr>
        <p:spPr>
          <a:xfrm xmlns:a="http://schemas.openxmlformats.org/drawingml/2006/main">
            <a:off x="723900" y="5543550"/>
            <a:ext cx="107156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667561"/>
                </a:solidFill>
                <a:latin typeface="DM Sans"/>
                <a:ea typeface="DM Sans"/>
                <a:cs typeface="DM Sans"/>
              </a:defRPr>
            </a:pPr>
            <a:r>
              <a:rPr sz="1800" b="0">
                <a:solidFill>
                  <a:srgbClr val="667561"/>
                </a:solidFill>
                <a:latin typeface="DM Sans"/>
                <a:ea typeface="DM Sans"/>
                <a:cs typeface="DM Sans"/>
              </a:rPr>
              <a:t>Complements moisture meters and dryers. Potential advantage: permissioned lot and cost histories.</a:t>
            </a:r>
          </a:p>
        </p:txBody>
      </p:sp>
      <p:sp>
        <p:nvSpPr>
          <p:cNvPr id="8" name="Kavu    07">
            <a:extLst xmlns:a="http://schemas.openxmlformats.org/drawingml/2006/main">
              <a:ext uri="{FF2B5EF4-FFF2-40B4-BE49-F238E27FC236}">
                <a16:creationId xmlns:a16="http://schemas.microsoft.com/office/drawing/2014/main" id="{3A349902-6D5B-4034-B7EB-EC5C67D900E8}"/>
              </a:ext>
            </a:extLst>
          </p:cNvPr>
          <p:cNvSpPr>
            <a:spLocks xmlns:a="http://schemas.openxmlformats.org/drawingml/2006/main" noGrp="1"/>
          </p:cNvSpPr>
          <p:nvPr/>
        </p:nvSpPr>
        <p:spPr>
          <a:xfrm xmlns:a="http://schemas.openxmlformats.org/drawingml/2006/main">
            <a:off x="685800" y="6334125"/>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667561"/>
                </a:solidFill>
                <a:latin typeface="DM Sans"/>
                <a:ea typeface="DM Sans"/>
                <a:cs typeface="DM Sans"/>
              </a:defRPr>
            </a:pPr>
            <a:r>
              <a:rPr sz="1200" b="0">
                <a:solidFill>
                  <a:srgbClr val="667561"/>
                </a:solidFill>
                <a:latin typeface="DM Sans"/>
                <a:ea typeface="DM Sans"/>
                <a:cs typeface="DM Sans"/>
              </a:rPr>
              <a:t>Kavu    07</a:t>
            </a:r>
          </a:p>
        </p:txBody>
      </p:sp>
    </p:spTree>
    <p:extLst>
      <p:ext uri="{BB962C8B-B14F-4D97-AF65-F5344CB8AC3E}">
        <p14:creationId xmlns:p14="http://schemas.microsoft.com/office/powerpoint/2010/main" val="523723059"/>
      </p:ext>
    </p:extLst>
  </p:cSld>
</p:sld>
</file>

<file path=ppt/slides/slide8.xml><?xml version="1.0" encoding="utf-8"?>
<p:sld xmlns:p="http://schemas.openxmlformats.org/presentationml/2006/main">
  <p:cSld>
    <p:bg>
      <p:bgPr>
        <a:solidFill xmlns:a="http://schemas.openxmlformats.org/drawingml/2006/main">
          <a:srgbClr val="244D37"/>
        </a:solidFill>
      </p:bgPr>
    </p:bg>
    <p:spTree>
      <p:nvGrpSpPr>
        <p:cNvPr id="1" name=""/>
        <p:cNvGrpSpPr/>
        <p:nvPr/>
      </p:nvGrpSpPr>
      <p:grpSpPr>
        <a:xfrm xmlns:a="http://schemas.openxmlformats.org/drawingml/2006/main"/>
      </p:grpSpPr>
      <p:sp>
        <p:nvSpPr>
          <p:cNvPr id="6" name="The next test is in the yard">
            <a:extLst xmlns:a="http://schemas.openxmlformats.org/drawingml/2006/main">
              <a:ext uri="{FF2B5EF4-FFF2-40B4-BE49-F238E27FC236}">
                <a16:creationId xmlns:a16="http://schemas.microsoft.com/office/drawing/2014/main" id="{A5900CA6-C4D1-4E8D-8838-98C7A7BD76E5}"/>
              </a:ext>
            </a:extLst>
          </p:cNvPr>
          <p:cNvSpPr>
            <a:spLocks xmlns:a="http://schemas.openxmlformats.org/drawingml/2006/main" noGrp="1"/>
          </p:cNvSpPr>
          <p:nvPr/>
        </p:nvSpPr>
        <p:spPr>
          <a:xfrm xmlns:a="http://schemas.openxmlformats.org/drawingml/2006/main">
            <a:off x="685800" y="514350"/>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F8F9F5"/>
                </a:solidFill>
                <a:latin typeface="Manrope"/>
                <a:ea typeface="Manrope"/>
                <a:cs typeface="Manrope"/>
              </a:defRPr>
            </a:pPr>
            <a:r>
              <a:rPr sz="3600" b="1">
                <a:solidFill>
                  <a:srgbClr val="F8F9F5"/>
                </a:solidFill>
                <a:latin typeface="Manrope"/>
                <a:ea typeface="Manrope"/>
                <a:cs typeface="Manrope"/>
              </a:rPr>
              <a:t>The next test is in the yard</a:t>
            </a:r>
          </a:p>
        </p:txBody>
      </p:sp>
      <p:sp>
        <p:nvSpPr>
          <p:cNvPr id="2" name="A supervised pilot&#10;with three maize yards">
            <a:extLst xmlns:a="http://schemas.openxmlformats.org/drawingml/2006/main">
              <a:ext uri="{FF2B5EF4-FFF2-40B4-BE49-F238E27FC236}">
                <a16:creationId xmlns:a16="http://schemas.microsoft.com/office/drawing/2014/main" id="{44E231E6-31D9-4721-90EE-ABEDD610FDA3}"/>
              </a:ext>
            </a:extLst>
          </p:cNvPr>
          <p:cNvSpPr>
            <a:spLocks xmlns:a="http://schemas.openxmlformats.org/drawingml/2006/main" noGrp="1"/>
          </p:cNvSpPr>
          <p:nvPr/>
        </p:nvSpPr>
        <p:spPr>
          <a:xfrm xmlns:a="http://schemas.openxmlformats.org/drawingml/2006/main">
            <a:off x="704850" y="1981200"/>
            <a:ext cx="10382250" cy="1419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425" b="1">
                <a:solidFill>
                  <a:srgbClr val="F8F9F5"/>
                </a:solidFill>
                <a:latin typeface="Manrope"/>
                <a:ea typeface="Manrope"/>
                <a:cs typeface="Manrope"/>
              </a:defRPr>
            </a:pPr>
            <a:r>
              <a:rPr sz="4425" b="1">
                <a:solidFill>
                  <a:srgbClr val="F8F9F5"/>
                </a:solidFill>
                <a:latin typeface="Manrope"/>
                <a:ea typeface="Manrope"/>
                <a:cs typeface="Manrope"/>
              </a:rPr>
              <a:t>A supervised pilot</a:t>
            </a:r>
          </a:p>
          <a:p xmlns:a="http://schemas.openxmlformats.org/drawingml/2006/main">
            <a:pPr>
              <a:defRPr sz="4425" b="1">
                <a:solidFill>
                  <a:srgbClr val="F8F9F5"/>
                </a:solidFill>
                <a:latin typeface="Manrope"/>
                <a:ea typeface="Manrope"/>
                <a:cs typeface="Manrope"/>
              </a:defRPr>
            </a:pPr>
            <a:r>
              <a:rPr sz="4425" b="1">
                <a:solidFill>
                  <a:srgbClr val="F8F9F5"/>
                </a:solidFill>
                <a:latin typeface="Manrope"/>
                <a:ea typeface="Manrope"/>
                <a:cs typeface="Manrope"/>
              </a:rPr>
              <a:t>with three maize yards</a:t>
            </a:r>
          </a:p>
        </p:txBody>
      </p:sp>
      <p:sp>
        <p:nvSpPr>
          <p:cNvPr id="3" name="Observe current work first.&#10;Compare recommend">
            <a:extLst xmlns:a="http://schemas.openxmlformats.org/drawingml/2006/main">
              <a:ext uri="{FF2B5EF4-FFF2-40B4-BE49-F238E27FC236}">
                <a16:creationId xmlns:a16="http://schemas.microsoft.com/office/drawing/2014/main" id="{07D4A776-5812-4B21-85E1-290D947FD8A5}"/>
              </a:ext>
            </a:extLst>
          </p:cNvPr>
          <p:cNvSpPr>
            <a:spLocks xmlns:a="http://schemas.openxmlformats.org/drawingml/2006/main" noGrp="1"/>
          </p:cNvSpPr>
          <p:nvPr/>
        </p:nvSpPr>
        <p:spPr>
          <a:xfrm xmlns:a="http://schemas.openxmlformats.org/drawingml/2006/main">
            <a:off x="742950" y="3962400"/>
            <a:ext cx="10382250" cy="1514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DEE5D9"/>
                </a:solidFill>
                <a:latin typeface="DM Sans"/>
                <a:ea typeface="DM Sans"/>
                <a:cs typeface="DM Sans"/>
              </a:defRPr>
            </a:pPr>
            <a:r>
              <a:rPr sz="2250" b="0">
                <a:solidFill>
                  <a:srgbClr val="DEE5D9"/>
                </a:solidFill>
                <a:latin typeface="DM Sans"/>
                <a:ea typeface="DM Sans"/>
                <a:cs typeface="DM Sans"/>
              </a:rPr>
              <a:t>Observe current work first.</a:t>
            </a:r>
          </a:p>
          <a:p xmlns:a="http://schemas.openxmlformats.org/drawingml/2006/main">
            <a:pPr>
              <a:defRPr sz="2250" b="0">
                <a:solidFill>
                  <a:srgbClr val="DEE5D9"/>
                </a:solidFill>
                <a:latin typeface="DM Sans"/>
                <a:ea typeface="DM Sans"/>
                <a:cs typeface="DM Sans"/>
              </a:defRPr>
            </a:pPr>
            <a:r>
              <a:rPr sz="2250" b="0">
                <a:solidFill>
                  <a:srgbClr val="DEE5D9"/>
                </a:solidFill>
                <a:latin typeface="DM Sans"/>
                <a:ea typeface="DM Sans"/>
                <a:cs typeface="DM Sans"/>
              </a:rPr>
              <a:t>Compare recommendations in shadow mode.</a:t>
            </a:r>
          </a:p>
          <a:p xmlns:a="http://schemas.openxmlformats.org/drawingml/2006/main">
            <a:pPr>
              <a:defRPr sz="2250" b="0">
                <a:solidFill>
                  <a:srgbClr val="DEE5D9"/>
                </a:solidFill>
                <a:latin typeface="DM Sans"/>
                <a:ea typeface="DM Sans"/>
                <a:cs typeface="DM Sans"/>
              </a:defRPr>
            </a:pPr>
            <a:r>
              <a:rPr sz="2250" b="0">
                <a:solidFill>
                  <a:srgbClr val="DEE5D9"/>
                </a:solidFill>
                <a:latin typeface="DM Sans"/>
                <a:ea typeface="DM Sans"/>
                <a:cs typeface="DM Sans"/>
              </a:rPr>
              <a:t>Measure adoption, rechecks and actual costs.</a:t>
            </a:r>
          </a:p>
        </p:txBody>
      </p:sp>
      <p:sp>
        <p:nvSpPr>
          <p:cNvPr id="4" name="Seeking operator feedback and pilot introduct">
            <a:extLst xmlns:a="http://schemas.openxmlformats.org/drawingml/2006/main">
              <a:ext uri="{FF2B5EF4-FFF2-40B4-BE49-F238E27FC236}">
                <a16:creationId xmlns:a16="http://schemas.microsoft.com/office/drawing/2014/main" id="{E581CF4D-FD58-4183-B1DE-5F5735977283}"/>
              </a:ext>
            </a:extLst>
          </p:cNvPr>
          <p:cNvSpPr>
            <a:spLocks xmlns:a="http://schemas.openxmlformats.org/drawingml/2006/main" noGrp="1"/>
          </p:cNvSpPr>
          <p:nvPr/>
        </p:nvSpPr>
        <p:spPr>
          <a:xfrm xmlns:a="http://schemas.openxmlformats.org/drawingml/2006/main">
            <a:off x="762000" y="5734050"/>
            <a:ext cx="10382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1">
                <a:solidFill>
                  <a:srgbClr val="D0A650"/>
                </a:solidFill>
                <a:latin typeface="DM Sans"/>
                <a:ea typeface="DM Sans"/>
                <a:cs typeface="DM Sans"/>
              </a:defRPr>
            </a:pPr>
            <a:r>
              <a:rPr sz="1950" b="1">
                <a:solidFill>
                  <a:srgbClr val="D0A650"/>
                </a:solidFill>
                <a:latin typeface="DM Sans"/>
                <a:ea typeface="DM Sans"/>
                <a:cs typeface="DM Sans"/>
              </a:rPr>
              <a:t>Seeking operator feedback and pilot introductions</a:t>
            </a:r>
          </a:p>
        </p:txBody>
      </p:sp>
      <p:sp>
        <p:nvSpPr>
          <p:cNvPr id="5" name="Kavu    08">
            <a:extLst xmlns:a="http://schemas.openxmlformats.org/drawingml/2006/main">
              <a:ext uri="{FF2B5EF4-FFF2-40B4-BE49-F238E27FC236}">
                <a16:creationId xmlns:a16="http://schemas.microsoft.com/office/drawing/2014/main" id="{2A7D016C-A537-4D7C-93D9-88553CE7D0D5}"/>
              </a:ext>
            </a:extLst>
          </p:cNvPr>
          <p:cNvSpPr>
            <a:spLocks xmlns:a="http://schemas.openxmlformats.org/drawingml/2006/main" noGrp="1"/>
          </p:cNvSpPr>
          <p:nvPr/>
        </p:nvSpPr>
        <p:spPr>
          <a:xfrm xmlns:a="http://schemas.openxmlformats.org/drawingml/2006/main">
            <a:off x="685800" y="6334125"/>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00" b="0">
                <a:solidFill>
                  <a:srgbClr val="DEE5D9"/>
                </a:solidFill>
                <a:latin typeface="DM Sans"/>
                <a:ea typeface="DM Sans"/>
                <a:cs typeface="DM Sans"/>
              </a:defRPr>
            </a:pPr>
            <a:r>
              <a:rPr sz="1200" b="0">
                <a:solidFill>
                  <a:srgbClr val="DEE5D9"/>
                </a:solidFill>
                <a:latin typeface="DM Sans"/>
                <a:ea typeface="DM Sans"/>
                <a:cs typeface="DM Sans"/>
              </a:rPr>
              <a:t>Kavu    08</a:t>
            </a:r>
          </a:p>
        </p:txBody>
      </p:sp>
    </p:spTree>
    <p:extLst>
      <p:ext uri="{BB962C8B-B14F-4D97-AF65-F5344CB8AC3E}">
        <p14:creationId xmlns:p14="http://schemas.microsoft.com/office/powerpoint/2010/main" val="46075992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2026-09-22T04:34:58.2500000Z</dcterms:created>
  <dcterms:modified xsi:type="dcterms:W3CDTF">2026-09-22T04:34:58.2500000Z</dcterms:modified>
</coreProperties>
</file>